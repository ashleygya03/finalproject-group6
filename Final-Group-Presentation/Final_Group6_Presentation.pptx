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70" r:id="rId7"/>
    <p:sldId id="259" r:id="rId8"/>
    <p:sldId id="261" r:id="rId9"/>
    <p:sldId id="262" r:id="rId10"/>
    <p:sldId id="264" r:id="rId11"/>
    <p:sldId id="276" r:id="rId12"/>
    <p:sldId id="277" r:id="rId13"/>
    <p:sldId id="273" r:id="rId14"/>
    <p:sldId id="271" r:id="rId15"/>
    <p:sldId id="274" r:id="rId16"/>
    <p:sldId id="263" r:id="rId17"/>
    <p:sldId id="266" r:id="rId18"/>
    <p:sldId id="267" r:id="rId19"/>
    <p:sldId id="268" r:id="rId20"/>
    <p:sldId id="269" r:id="rId21"/>
  </p:sldIdLst>
  <p:sldSz cx="12192000" cy="6858000"/>
  <p:notesSz cx="6858000" cy="12192000"/>
  <p:embeddedFontLst>
    <p:embeddedFont>
      <p:font typeface="Poppins" pitchFamily="2" charset="77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7230E-D985-7D91-6C43-A5D7ED82AEBF}" v="11" dt="2026-04-29T01:58:04.542"/>
    <p1510:client id="{557C93E4-D2F4-969E-D88E-3A40D6AFC28B}" v="50" dt="2026-04-29T14:02:02.036"/>
    <p1510:client id="{9EE80E1C-9512-7B55-5161-E3CB2CF4381E}" v="171" dt="2026-04-28T21:47:18.673"/>
    <p1510:client id="{A399E358-4514-2053-4D1E-EDAA63315B9B}" v="246" dt="2026-04-28T18:00:18.967"/>
    <p1510:client id="{CFFB5289-CA82-4FB2-8A48-0DBE2355B5CF}" v="25" dt="2026-04-28T03:04:21.798"/>
    <p1510:client id="{EF910FA8-6FCE-D048-ADDA-FF0465339CA6}" v="1" dt="2026-04-29T14:03:18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2"/>
  </p:normalViewPr>
  <p:slideViewPr>
    <p:cSldViewPr snapToGrid="0">
      <p:cViewPr varScale="1">
        <p:scale>
          <a:sx n="104" d="100"/>
          <a:sy n="104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77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94A4-7386-6863-74B4-38E3601F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29943-4C58-2DF9-F455-9AF9A92E6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41F8F-50D5-4596-F30F-F22B7061F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3A984-1292-2585-6E1E-157A2B3D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4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D1EE-CCD3-6B30-C6DB-360263D0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E0B3D-5CF5-8B36-BCDD-3124840C4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8A33E-70FA-2EF1-7E1E-D244632C4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9C870-F045-87C3-0B12-1008AFBFBF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97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C8CB4-7EB6-0D5E-140A-63902371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B8C3C-A00B-C0F1-B3B6-43B90E259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A1CB4-76D5-907C-BE7C-EA96276DC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EC7CC-21C3-05A7-94C6-29FB1B47D8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5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8DBF5-B05B-7D3F-2883-B0D3250C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FCECA-1E4F-D588-133A-1AC47023C5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CFE535-67AC-9D18-EFF1-4A929EE19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MobileNetV2 model was trained using a two-phase transfer learning process. First, the classifier head learned the ASL classes using a learning rate of 1e-3. Then, the top layers were unfrozen starting at layer 100 and fine-tuned with a smaller learning rate of 1e-5 to avoid damaging the pretrained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4609D-AD5D-9EF7-464C-C4D9A75A9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68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D50D-85EC-1EFD-5850-D3580AB7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F9935-9F87-999A-5E80-79086D4B7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B2C1A-88C3-CB83-DEEE-C94A7488A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294D3-458D-664F-3A82-39FF41238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626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95C7-E24A-1ED0-6332-FF356E98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2F567-9DF9-0F2D-B020-4E47A6ECC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17077-D9A7-C8E9-EEEB-4966E7AD3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1DD1E-6D28-C070-6AB5-D22482CD3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21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hleygya03/FinalProject-Group6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12267" y="320040"/>
            <a:ext cx="11567160" cy="621792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docx_media/image1.jpeg"/>
          <p:cNvPicPr>
            <a:picLocks noChangeAspect="1"/>
          </p:cNvPicPr>
          <p:nvPr/>
        </p:nvPicPr>
        <p:blipFill>
          <a:blip r:embed="rId3"/>
          <a:srcRect l="14286" r="14286"/>
          <a:stretch/>
        </p:blipFill>
        <p:spPr>
          <a:xfrm>
            <a:off x="7635240" y="594360"/>
            <a:ext cx="3886200" cy="5440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9379" y="594360"/>
            <a:ext cx="109728" cy="544068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171702"/>
            <a:ext cx="6080760" cy="147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900" b="1">
                <a:solidFill>
                  <a:srgbClr val="202A41"/>
                </a:solidFill>
              </a:rPr>
              <a:t>American Sign Language (ASL) Alphabet Classification</a:t>
            </a:r>
            <a:endParaRPr lang="en-US" sz="3900"/>
          </a:p>
          <a:p>
            <a:pPr marL="0" indent="0">
              <a:buNone/>
            </a:pPr>
            <a:r>
              <a:rPr lang="en-US" sz="3900" b="1">
                <a:solidFill>
                  <a:srgbClr val="202A41"/>
                </a:solidFill>
              </a:rPr>
              <a:t>Using Deep Learning</a:t>
            </a:r>
            <a:endParaRPr lang="en-US" sz="3900"/>
          </a:p>
        </p:txBody>
      </p:sp>
      <p:sp>
        <p:nvSpPr>
          <p:cNvPr id="7" name="Text 4"/>
          <p:cNvSpPr/>
          <p:nvPr/>
        </p:nvSpPr>
        <p:spPr>
          <a:xfrm>
            <a:off x="777239" y="2556431"/>
            <a:ext cx="65000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516988"/>
                </a:solidFill>
              </a:rPr>
              <a:t>A comparative study of ResNet-50 and MobileNetV2</a:t>
            </a:r>
            <a:endParaRPr lang="en-US" sz="2000" b="1"/>
          </a:p>
        </p:txBody>
      </p:sp>
      <p:sp>
        <p:nvSpPr>
          <p:cNvPr id="10" name="Shape 7"/>
          <p:cNvSpPr/>
          <p:nvPr/>
        </p:nvSpPr>
        <p:spPr>
          <a:xfrm>
            <a:off x="777748" y="816810"/>
            <a:ext cx="2632202" cy="320040"/>
          </a:xfrm>
          <a:prstGeom prst="roundRect">
            <a:avLst>
              <a:gd name="adj" fmla="val 0"/>
            </a:avLst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748" y="396544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02A41"/>
                </a:solidFill>
              </a:rPr>
              <a:t>By: </a:t>
            </a:r>
            <a:r>
              <a:rPr lang="en-US" sz="1600" b="1" err="1">
                <a:solidFill>
                  <a:srgbClr val="202A41"/>
                </a:solidFill>
              </a:rPr>
              <a:t>Fyrooz</a:t>
            </a:r>
            <a:r>
              <a:rPr lang="en-US" sz="1600" b="1">
                <a:solidFill>
                  <a:srgbClr val="202A41"/>
                </a:solidFill>
              </a:rPr>
              <a:t> Khan &amp; Ashley </a:t>
            </a:r>
            <a:r>
              <a:rPr lang="en-US" sz="1600" b="1" err="1">
                <a:solidFill>
                  <a:srgbClr val="202A41"/>
                </a:solidFill>
              </a:rPr>
              <a:t>Gyapomah</a:t>
            </a:r>
            <a:endParaRPr lang="en-US" sz="16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EDED4B-86AE-CB12-DF7B-39AA3D3CC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48" y="4861560"/>
            <a:ext cx="2165350" cy="112690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6"/>
          <p:cNvSpPr/>
          <p:nvPr/>
        </p:nvSpPr>
        <p:spPr>
          <a:xfrm>
            <a:off x="707644" y="861822"/>
            <a:ext cx="2805938" cy="217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chemeClr val="bg1"/>
                </a:solidFill>
              </a:rPr>
              <a:t>DATS</a:t>
            </a:r>
            <a:r>
              <a:rPr lang="en-US" sz="1400" b="1">
                <a:solidFill>
                  <a:schemeClr val="bg1"/>
                </a:solidFill>
              </a:rPr>
              <a:t> 6303 – Deep Learning</a:t>
            </a:r>
            <a:endParaRPr 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014984" y="23139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MOTIVATION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MOTIVATION</a:t>
            </a:r>
            <a:endParaRPr lang="en-US" sz="780"/>
          </a:p>
        </p:txBody>
      </p:sp>
      <p:sp>
        <p:nvSpPr>
          <p:cNvPr id="30" name="Text 27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31" name="Text 28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02</a:t>
            </a:r>
            <a:endParaRPr lang="en-US" sz="900"/>
          </a:p>
        </p:txBody>
      </p:sp>
      <p:pic>
        <p:nvPicPr>
          <p:cNvPr id="1026" name="Picture 2" descr="Learning American Sign Language (ASL) | Little Hands Pediatric Therapy">
            <a:extLst>
              <a:ext uri="{FF2B5EF4-FFF2-40B4-BE49-F238E27FC236}">
                <a16:creationId xmlns:a16="http://schemas.microsoft.com/office/drawing/2014/main" id="{BE7B58E1-A61A-7304-8899-4902B0EFC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724" y="1269771"/>
            <a:ext cx="6260226" cy="450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 20">
            <a:extLst>
              <a:ext uri="{FF2B5EF4-FFF2-40B4-BE49-F238E27FC236}">
                <a16:creationId xmlns:a16="http://schemas.microsoft.com/office/drawing/2014/main" id="{577AE104-8B72-1460-924E-4484F10749C3}"/>
              </a:ext>
            </a:extLst>
          </p:cNvPr>
          <p:cNvSpPr/>
          <p:nvPr/>
        </p:nvSpPr>
        <p:spPr>
          <a:xfrm>
            <a:off x="7620000" y="2110134"/>
            <a:ext cx="4254500" cy="109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/>
              <a:t>Estimated </a:t>
            </a:r>
            <a:r>
              <a:rPr lang="en-US" sz="1600" b="1"/>
              <a:t>1 million Deaf and Hard-of-Hearing population </a:t>
            </a:r>
            <a:r>
              <a:rPr lang="en-US" sz="1600"/>
              <a:t>use sign language in the United States</a:t>
            </a: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E6556F9B-DE96-4FEB-8D74-67CF33C5B6C3}"/>
              </a:ext>
            </a:extLst>
          </p:cNvPr>
          <p:cNvSpPr/>
          <p:nvPr/>
        </p:nvSpPr>
        <p:spPr>
          <a:xfrm>
            <a:off x="1014984" y="581380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02A41"/>
                </a:solidFill>
              </a:rPr>
              <a:t>Source: </a:t>
            </a:r>
            <a:r>
              <a:rPr lang="nn-NO" sz="1200"/>
              <a:t>Atangan, K. (2019, February 17)</a:t>
            </a:r>
            <a:r>
              <a:rPr lang="en-US" sz="1200">
                <a:solidFill>
                  <a:srgbClr val="202A41"/>
                </a:solidFill>
              </a:rPr>
              <a:t> </a:t>
            </a:r>
            <a:endParaRPr lang="en-US" sz="120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7E2B7FF5-4230-F8B0-A613-C3A412E9DD33}"/>
              </a:ext>
            </a:extLst>
          </p:cNvPr>
          <p:cNvSpPr/>
          <p:nvPr/>
        </p:nvSpPr>
        <p:spPr>
          <a:xfrm>
            <a:off x="7664450" y="3523452"/>
            <a:ext cx="4254500" cy="109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/>
              <a:t>Sign language use approaches </a:t>
            </a:r>
            <a:r>
              <a:rPr lang="en-US" sz="1600" b="1"/>
              <a:t>3% of the U.S. adult population </a:t>
            </a: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17FEC66A-7EC9-4232-9C8A-BF2095317AD2}"/>
              </a:ext>
            </a:extLst>
          </p:cNvPr>
          <p:cNvSpPr/>
          <p:nvPr/>
        </p:nvSpPr>
        <p:spPr>
          <a:xfrm>
            <a:off x="9975850" y="4070167"/>
            <a:ext cx="16383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02A41"/>
                </a:solidFill>
              </a:rPr>
              <a:t>[Rosen et al., 2022]</a:t>
            </a:r>
            <a:endParaRPr lang="en-US" sz="1200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7658D969-FE32-B67E-44AD-F243B9A5CC56}"/>
              </a:ext>
            </a:extLst>
          </p:cNvPr>
          <p:cNvSpPr/>
          <p:nvPr/>
        </p:nvSpPr>
        <p:spPr>
          <a:xfrm>
            <a:off x="9523730" y="2848307"/>
            <a:ext cx="16383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202A41"/>
                </a:solidFill>
              </a:rPr>
              <a:t>[Rosen et al., 2022]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33B5F-E4BF-ABC0-F05F-8E9DC65F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24FEDD3-C013-2AF0-B7E2-D70F385C61D1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C2CC75-D425-4518-65C3-29A7D876E4B6}"/>
              </a:ext>
            </a:extLst>
          </p:cNvPr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49736F-2D27-AC34-A562-77042CEB7D59}"/>
              </a:ext>
            </a:extLst>
          </p:cNvPr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1BDD0C-C182-B0C6-C331-574440A67DD4}"/>
              </a:ext>
            </a:extLst>
          </p:cNvPr>
          <p:cNvSpPr/>
          <p:nvPr/>
        </p:nvSpPr>
        <p:spPr>
          <a:xfrm>
            <a:off x="1014984" y="23139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&amp; project goal</a:t>
            </a:r>
            <a:endParaRPr lang="en-US"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A46183-C2BE-65F9-3D86-1C794765A20D}"/>
              </a:ext>
            </a:extLst>
          </p:cNvPr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D598E7-BFB6-FFAD-BC97-07D58ECC50F2}"/>
              </a:ext>
            </a:extLst>
          </p:cNvPr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MOTIVATION</a:t>
            </a:r>
            <a:endParaRPr lang="en-US" sz="78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261B86-2F67-5CD7-E0B2-3360D5379284}"/>
              </a:ext>
            </a:extLst>
          </p:cNvPr>
          <p:cNvSpPr/>
          <p:nvPr/>
        </p:nvSpPr>
        <p:spPr>
          <a:xfrm>
            <a:off x="960120" y="1051560"/>
            <a:ext cx="10770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202A41"/>
                </a:solidFill>
              </a:rPr>
              <a:t>Classify static ASL alphabet handshapes from RGB images using deep learning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26C5DCF-7DF6-C4B2-315F-C8F6257D5BCA}"/>
              </a:ext>
            </a:extLst>
          </p:cNvPr>
          <p:cNvGrpSpPr/>
          <p:nvPr/>
        </p:nvGrpSpPr>
        <p:grpSpPr>
          <a:xfrm>
            <a:off x="960119" y="1988311"/>
            <a:ext cx="3592167" cy="2327387"/>
            <a:chOff x="960120" y="1965960"/>
            <a:chExt cx="3246120" cy="2057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9185236C-3BDC-2BAD-99B1-2EC80D7E5D2F}"/>
                </a:ext>
              </a:extLst>
            </p:cNvPr>
            <p:cNvSpPr/>
            <p:nvPr/>
          </p:nvSpPr>
          <p:spPr>
            <a:xfrm>
              <a:off x="960120" y="1965960"/>
              <a:ext cx="3246120" cy="20574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109A10B2-9AB7-0E16-9591-2DA078E7BCA5}"/>
                </a:ext>
              </a:extLst>
            </p:cNvPr>
            <p:cNvSpPr/>
            <p:nvPr/>
          </p:nvSpPr>
          <p:spPr>
            <a:xfrm>
              <a:off x="960120" y="1965960"/>
              <a:ext cx="109728" cy="2057400"/>
            </a:xfrm>
            <a:prstGeom prst="rect">
              <a:avLst/>
            </a:prstGeom>
            <a:solidFill>
              <a:srgbClr val="90ABCE"/>
            </a:solidFill>
            <a:ln w="12700">
              <a:solidFill>
                <a:srgbClr val="90ABC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60C334F-C25B-C89F-6F10-8B2D15A9E007}"/>
                </a:ext>
              </a:extLst>
            </p:cNvPr>
            <p:cNvSpPr/>
            <p:nvPr/>
          </p:nvSpPr>
          <p:spPr>
            <a:xfrm>
              <a:off x="1216151" y="2496312"/>
              <a:ext cx="2951533" cy="13716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/>
                <a:t>Helps recognize ASL signs automatically.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6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/>
                <a:t>Supports better communication accessibility.</a:t>
              </a:r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6F72E34-CCF8-D2A0-B43B-A088627FCC45}"/>
                </a:ext>
              </a:extLst>
            </p:cNvPr>
            <p:cNvSpPr/>
            <p:nvPr/>
          </p:nvSpPr>
          <p:spPr>
            <a:xfrm>
              <a:off x="1216152" y="2122932"/>
              <a:ext cx="28254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Why it matters</a:t>
              </a:r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F646757-1B07-A269-3EBE-738A8E6B88E6}"/>
              </a:ext>
            </a:extLst>
          </p:cNvPr>
          <p:cNvGrpSpPr/>
          <p:nvPr/>
        </p:nvGrpSpPr>
        <p:grpSpPr>
          <a:xfrm>
            <a:off x="8411391" y="2022084"/>
            <a:ext cx="3364762" cy="2306193"/>
            <a:chOff x="8001000" y="1965960"/>
            <a:chExt cx="3246121" cy="2057400"/>
          </a:xfrm>
        </p:grpSpPr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0E9433DF-1417-A387-A5FD-9B71DDD45CF7}"/>
                </a:ext>
              </a:extLst>
            </p:cNvPr>
            <p:cNvSpPr/>
            <p:nvPr/>
          </p:nvSpPr>
          <p:spPr>
            <a:xfrm>
              <a:off x="8001001" y="1965960"/>
              <a:ext cx="3246120" cy="20574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72E6DE51-F2BF-5B4A-A066-E51F25D1F13B}"/>
                </a:ext>
              </a:extLst>
            </p:cNvPr>
            <p:cNvSpPr/>
            <p:nvPr/>
          </p:nvSpPr>
          <p:spPr>
            <a:xfrm>
              <a:off x="8001000" y="1965960"/>
              <a:ext cx="109728" cy="2057400"/>
            </a:xfrm>
            <a:prstGeom prst="rect">
              <a:avLst/>
            </a:prstGeom>
            <a:solidFill>
              <a:srgbClr val="B9955B"/>
            </a:solidFill>
            <a:ln w="12700">
              <a:solidFill>
                <a:srgbClr val="B995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0C86E7A4-C3E3-61BF-3FD1-8AFF53F0F906}"/>
                </a:ext>
              </a:extLst>
            </p:cNvPr>
            <p:cNvSpPr/>
            <p:nvPr/>
          </p:nvSpPr>
          <p:spPr>
            <a:xfrm>
              <a:off x="8257032" y="2130552"/>
              <a:ext cx="28254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Final outcome</a:t>
              </a:r>
              <a:endParaRPr 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F9CBF627-F3B4-9387-CEB4-D0488B0B7460}"/>
                </a:ext>
              </a:extLst>
            </p:cNvPr>
            <p:cNvSpPr/>
            <p:nvPr/>
          </p:nvSpPr>
          <p:spPr>
            <a:xfrm>
              <a:off x="8257032" y="2496312"/>
              <a:ext cx="2825496" cy="13716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rgbClr val="1F2937"/>
                  </a:solidFill>
                </a:rPr>
                <a:t>Compare two transfer-learning models and deploy a webcam-based </a:t>
              </a:r>
              <a:r>
                <a:rPr lang="en-US" sz="1600" err="1">
                  <a:solidFill>
                    <a:srgbClr val="1F2937"/>
                  </a:solidFill>
                </a:rPr>
                <a:t>Streamlit</a:t>
              </a:r>
              <a:r>
                <a:rPr lang="en-US" sz="1600">
                  <a:solidFill>
                    <a:srgbClr val="1F2937"/>
                  </a:solidFill>
                </a:rPr>
                <a:t> demo</a:t>
              </a:r>
              <a:endParaRPr lang="en-US" sz="1600"/>
            </a:p>
          </p:txBody>
        </p:sp>
      </p:grpSp>
      <p:sp>
        <p:nvSpPr>
          <p:cNvPr id="23" name="Text 20">
            <a:extLst>
              <a:ext uri="{FF2B5EF4-FFF2-40B4-BE49-F238E27FC236}">
                <a16:creationId xmlns:a16="http://schemas.microsoft.com/office/drawing/2014/main" id="{8CCA2D27-EA43-0843-057A-C9C34889B198}"/>
              </a:ext>
            </a:extLst>
          </p:cNvPr>
          <p:cNvSpPr/>
          <p:nvPr/>
        </p:nvSpPr>
        <p:spPr>
          <a:xfrm>
            <a:off x="960120" y="4838687"/>
            <a:ext cx="825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1F2937"/>
                </a:solidFill>
              </a:rPr>
              <a:t>Scope: </a:t>
            </a:r>
            <a:r>
              <a:rPr lang="en-US">
                <a:solidFill>
                  <a:srgbClr val="1F2937"/>
                </a:solidFill>
              </a:rPr>
              <a:t>Letters A–Z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rgbClr val="1F2937"/>
                </a:solidFill>
              </a:rPr>
              <a:t>Dynamic signing and full sentence recognition are outside this project.</a:t>
            </a: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D451F6B-45E7-78CE-3C06-89AA8AFFADCB}"/>
              </a:ext>
            </a:extLst>
          </p:cNvPr>
          <p:cNvGrpSpPr/>
          <p:nvPr/>
        </p:nvGrpSpPr>
        <p:grpSpPr>
          <a:xfrm>
            <a:off x="9519159" y="4660900"/>
            <a:ext cx="1746249" cy="1234440"/>
            <a:chOff x="8443045" y="4631436"/>
            <a:chExt cx="1188720" cy="1234440"/>
          </a:xfrm>
        </p:grpSpPr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1D9CE631-7EF0-C204-4679-679904677A26}"/>
                </a:ext>
              </a:extLst>
            </p:cNvPr>
            <p:cNvSpPr/>
            <p:nvPr/>
          </p:nvSpPr>
          <p:spPr>
            <a:xfrm>
              <a:off x="8443045" y="4631436"/>
              <a:ext cx="1188720" cy="123444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15240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D95270B8-4B30-89B1-D2CB-089529664EF1}"/>
                </a:ext>
              </a:extLst>
            </p:cNvPr>
            <p:cNvSpPr/>
            <p:nvPr/>
          </p:nvSpPr>
          <p:spPr>
            <a:xfrm>
              <a:off x="8580205" y="4897687"/>
              <a:ext cx="914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500" b="1">
                  <a:solidFill>
                    <a:srgbClr val="202A41"/>
                  </a:solidFill>
                </a:rPr>
                <a:t>26</a:t>
              </a:r>
              <a:endParaRPr lang="en-US" sz="2500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A2789382-6E87-FBCB-999C-0BAACA5BEA03}"/>
                </a:ext>
              </a:extLst>
            </p:cNvPr>
            <p:cNvSpPr/>
            <p:nvPr/>
          </p:nvSpPr>
          <p:spPr>
            <a:xfrm>
              <a:off x="8509780" y="5271516"/>
              <a:ext cx="105525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>
                  <a:solidFill>
                    <a:srgbClr val="1F2937"/>
                  </a:solidFill>
                </a:rPr>
                <a:t>letter classes</a:t>
              </a:r>
              <a:endParaRPr lang="en-US" sz="1600"/>
            </a:p>
          </p:txBody>
        </p:sp>
      </p:grpSp>
      <p:sp>
        <p:nvSpPr>
          <p:cNvPr id="30" name="Text 27">
            <a:extLst>
              <a:ext uri="{FF2B5EF4-FFF2-40B4-BE49-F238E27FC236}">
                <a16:creationId xmlns:a16="http://schemas.microsoft.com/office/drawing/2014/main" id="{5C1A676D-E32A-7599-55C4-62785D650EDC}"/>
              </a:ext>
            </a:extLst>
          </p:cNvPr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41D0F6B2-03DA-D3EA-A6E0-0AB8ECA7341A}"/>
              </a:ext>
            </a:extLst>
          </p:cNvPr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02</a:t>
            </a:r>
            <a:endParaRPr lang="en-US" sz="9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DAEAC5-02AB-8DC0-9110-C0D0C75C1A0A}"/>
              </a:ext>
            </a:extLst>
          </p:cNvPr>
          <p:cNvGrpSpPr/>
          <p:nvPr/>
        </p:nvGrpSpPr>
        <p:grpSpPr>
          <a:xfrm>
            <a:off x="4690261" y="1965133"/>
            <a:ext cx="3568735" cy="2396919"/>
            <a:chOff x="4480560" y="1945871"/>
            <a:chExt cx="3291839" cy="2077489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99808373-A7C5-C44B-F1AF-7085D14F0C75}"/>
                </a:ext>
              </a:extLst>
            </p:cNvPr>
            <p:cNvSpPr/>
            <p:nvPr/>
          </p:nvSpPr>
          <p:spPr>
            <a:xfrm>
              <a:off x="4526279" y="1945871"/>
              <a:ext cx="3246120" cy="20574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6F926DD9-BFD2-DA92-6DF8-4BEAA44ADF54}"/>
                </a:ext>
              </a:extLst>
            </p:cNvPr>
            <p:cNvSpPr/>
            <p:nvPr/>
          </p:nvSpPr>
          <p:spPr>
            <a:xfrm>
              <a:off x="4480560" y="1965960"/>
              <a:ext cx="109728" cy="2057400"/>
            </a:xfrm>
            <a:prstGeom prst="rect">
              <a:avLst/>
            </a:prstGeom>
            <a:solidFill>
              <a:srgbClr val="7FA06B"/>
            </a:solidFill>
            <a:ln w="12700">
              <a:solidFill>
                <a:srgbClr val="7FA0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D098ACDC-712B-E939-F6C1-7E7DE9386346}"/>
                </a:ext>
              </a:extLst>
            </p:cNvPr>
            <p:cNvSpPr/>
            <p:nvPr/>
          </p:nvSpPr>
          <p:spPr>
            <a:xfrm>
              <a:off x="4730174" y="2465006"/>
              <a:ext cx="2907649" cy="13716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/>
                <a:t>Serves as a first step toward full sign-language recognition systems</a:t>
              </a:r>
              <a:br>
                <a:rPr lang="en-US" sz="1600"/>
              </a:br>
              <a:endParaRPr lang="en-US" sz="160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/>
                <a:t>Useful for assistive and educational applications.</a:t>
              </a: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67B34AD6-5F3E-C8B7-753D-F7E6B7CCE0C1}"/>
                </a:ext>
              </a:extLst>
            </p:cNvPr>
            <p:cNvSpPr/>
            <p:nvPr/>
          </p:nvSpPr>
          <p:spPr>
            <a:xfrm>
              <a:off x="4736592" y="2130552"/>
              <a:ext cx="28254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Selected problem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295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datasets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DATA</a:t>
            </a:r>
            <a:endParaRPr lang="en-US" sz="780"/>
          </a:p>
        </p:txBody>
      </p:sp>
      <p:sp>
        <p:nvSpPr>
          <p:cNvPr id="30" name="Text 28"/>
          <p:cNvSpPr/>
          <p:nvPr/>
        </p:nvSpPr>
        <p:spPr>
          <a:xfrm>
            <a:off x="1234440" y="3272746"/>
            <a:ext cx="10614349" cy="849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1F2937"/>
                </a:solidFill>
              </a:rPr>
              <a:t>Pilot finding: </a:t>
            </a:r>
            <a:r>
              <a:rPr lang="en-US" sz="1600">
                <a:solidFill>
                  <a:srgbClr val="1F2937"/>
                </a:solidFill>
              </a:rPr>
              <a:t>Kaggle dataset -&gt; alone achieved high training accuracy but poor real-time webcam inference because of wide-angle images, low contrast, label noise, and hidden hand features.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04</a:t>
            </a:r>
            <a:endParaRPr lang="en-US" sz="90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E0E71F0-5AFC-FAF7-9033-6A808A845F70}"/>
              </a:ext>
            </a:extLst>
          </p:cNvPr>
          <p:cNvGrpSpPr/>
          <p:nvPr/>
        </p:nvGrpSpPr>
        <p:grpSpPr>
          <a:xfrm>
            <a:off x="1147030" y="1033999"/>
            <a:ext cx="10058400" cy="2112133"/>
            <a:chOff x="1234440" y="4316226"/>
            <a:chExt cx="10058400" cy="211213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CBE9DFC-923E-D57A-B200-69DD0A165D87}"/>
                </a:ext>
              </a:extLst>
            </p:cNvPr>
            <p:cNvGrpSpPr/>
            <p:nvPr/>
          </p:nvGrpSpPr>
          <p:grpSpPr>
            <a:xfrm>
              <a:off x="1928608" y="5438195"/>
              <a:ext cx="3374780" cy="990164"/>
              <a:chOff x="1005840" y="4069080"/>
              <a:chExt cx="3017520" cy="1234440"/>
            </a:xfrm>
          </p:grpSpPr>
          <p:sp>
            <p:nvSpPr>
              <p:cNvPr id="88" name="Shape 16">
                <a:extLst>
                  <a:ext uri="{FF2B5EF4-FFF2-40B4-BE49-F238E27FC236}">
                    <a16:creationId xmlns:a16="http://schemas.microsoft.com/office/drawing/2014/main" id="{C4AB3AE8-3A1E-B562-AD8E-0C65B713E0BA}"/>
                  </a:ext>
                </a:extLst>
              </p:cNvPr>
              <p:cNvSpPr/>
              <p:nvPr/>
            </p:nvSpPr>
            <p:spPr>
              <a:xfrm>
                <a:off x="1005840" y="4069080"/>
                <a:ext cx="1371600" cy="1234440"/>
              </a:xfrm>
              <a:prstGeom prst="roundRect">
                <a:avLst>
                  <a:gd name="adj" fmla="val 10370"/>
                </a:avLst>
              </a:prstGeom>
              <a:solidFill>
                <a:srgbClr val="FFFFFF"/>
              </a:solidFill>
              <a:ln w="15240">
                <a:solidFill>
                  <a:srgbClr val="D3E1F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 17">
                <a:extLst>
                  <a:ext uri="{FF2B5EF4-FFF2-40B4-BE49-F238E27FC236}">
                    <a16:creationId xmlns:a16="http://schemas.microsoft.com/office/drawing/2014/main" id="{AF5748EB-9553-72FC-0EF1-E87331EF6200}"/>
                  </a:ext>
                </a:extLst>
              </p:cNvPr>
              <p:cNvSpPr/>
              <p:nvPr/>
            </p:nvSpPr>
            <p:spPr>
              <a:xfrm>
                <a:off x="1143000" y="4233672"/>
                <a:ext cx="10972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>
                    <a:solidFill>
                      <a:srgbClr val="202A41"/>
                    </a:solidFill>
                  </a:rPr>
                  <a:t>87K</a:t>
                </a:r>
                <a:endParaRPr lang="en-US"/>
              </a:p>
            </p:txBody>
          </p:sp>
          <p:sp>
            <p:nvSpPr>
              <p:cNvPr id="90" name="Text 18">
                <a:extLst>
                  <a:ext uri="{FF2B5EF4-FFF2-40B4-BE49-F238E27FC236}">
                    <a16:creationId xmlns:a16="http://schemas.microsoft.com/office/drawing/2014/main" id="{13EFA14F-BBB0-7FCA-7141-59359043578A}"/>
                  </a:ext>
                </a:extLst>
              </p:cNvPr>
              <p:cNvSpPr/>
              <p:nvPr/>
            </p:nvSpPr>
            <p:spPr>
              <a:xfrm>
                <a:off x="1170432" y="4709160"/>
                <a:ext cx="1042416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Kaggle images</a:t>
                </a:r>
                <a:endParaRPr lang="en-US" sz="1600"/>
              </a:p>
            </p:txBody>
          </p:sp>
          <p:sp>
            <p:nvSpPr>
              <p:cNvPr id="91" name="Shape 19">
                <a:extLst>
                  <a:ext uri="{FF2B5EF4-FFF2-40B4-BE49-F238E27FC236}">
                    <a16:creationId xmlns:a16="http://schemas.microsoft.com/office/drawing/2014/main" id="{51BEC039-E8AE-6733-566B-E099B91CE79A}"/>
                  </a:ext>
                </a:extLst>
              </p:cNvPr>
              <p:cNvSpPr/>
              <p:nvPr/>
            </p:nvSpPr>
            <p:spPr>
              <a:xfrm>
                <a:off x="2651760" y="4069080"/>
                <a:ext cx="1371600" cy="1234440"/>
              </a:xfrm>
              <a:prstGeom prst="roundRect">
                <a:avLst>
                  <a:gd name="adj" fmla="val 10370"/>
                </a:avLst>
              </a:prstGeom>
              <a:solidFill>
                <a:srgbClr val="FFFFFF"/>
              </a:solidFill>
              <a:ln w="15240">
                <a:solidFill>
                  <a:srgbClr val="D3E1F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Text 20">
                <a:extLst>
                  <a:ext uri="{FF2B5EF4-FFF2-40B4-BE49-F238E27FC236}">
                    <a16:creationId xmlns:a16="http://schemas.microsoft.com/office/drawing/2014/main" id="{79E59C82-8CAC-5106-C465-36EDFDFF21C2}"/>
                  </a:ext>
                </a:extLst>
              </p:cNvPr>
              <p:cNvSpPr/>
              <p:nvPr/>
            </p:nvSpPr>
            <p:spPr>
              <a:xfrm>
                <a:off x="2788920" y="4233672"/>
                <a:ext cx="10972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>
                    <a:solidFill>
                      <a:srgbClr val="202A41"/>
                    </a:solidFill>
                  </a:rPr>
                  <a:t>29</a:t>
                </a:r>
                <a:endParaRPr lang="en-US" sz="2000"/>
              </a:p>
            </p:txBody>
          </p:sp>
          <p:sp>
            <p:nvSpPr>
              <p:cNvPr id="93" name="Text 21">
                <a:extLst>
                  <a:ext uri="{FF2B5EF4-FFF2-40B4-BE49-F238E27FC236}">
                    <a16:creationId xmlns:a16="http://schemas.microsoft.com/office/drawing/2014/main" id="{1F4A3A3F-641E-DDC7-CDC3-832EA54A2561}"/>
                  </a:ext>
                </a:extLst>
              </p:cNvPr>
              <p:cNvSpPr/>
              <p:nvPr/>
            </p:nvSpPr>
            <p:spPr>
              <a:xfrm>
                <a:off x="2816352" y="4709160"/>
                <a:ext cx="1042416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raw Kaggle classes</a:t>
                </a:r>
                <a:endParaRPr lang="en-US" sz="1600"/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58908720-2639-F5B1-6431-CB1E71FADB4F}"/>
                </a:ext>
              </a:extLst>
            </p:cNvPr>
            <p:cNvGrpSpPr/>
            <p:nvPr/>
          </p:nvGrpSpPr>
          <p:grpSpPr>
            <a:xfrm>
              <a:off x="7771604" y="5438195"/>
              <a:ext cx="3387434" cy="990163"/>
              <a:chOff x="5669280" y="4069080"/>
              <a:chExt cx="3017520" cy="1234441"/>
            </a:xfrm>
          </p:grpSpPr>
          <p:sp>
            <p:nvSpPr>
              <p:cNvPr id="95" name="Shape 22">
                <a:extLst>
                  <a:ext uri="{FF2B5EF4-FFF2-40B4-BE49-F238E27FC236}">
                    <a16:creationId xmlns:a16="http://schemas.microsoft.com/office/drawing/2014/main" id="{CA6F76C9-26A9-2C1E-B3D3-8DBA73C81EFC}"/>
                  </a:ext>
                </a:extLst>
              </p:cNvPr>
              <p:cNvSpPr/>
              <p:nvPr/>
            </p:nvSpPr>
            <p:spPr>
              <a:xfrm>
                <a:off x="5669280" y="4069081"/>
                <a:ext cx="1371600" cy="1234440"/>
              </a:xfrm>
              <a:prstGeom prst="roundRect">
                <a:avLst>
                  <a:gd name="adj" fmla="val 10370"/>
                </a:avLst>
              </a:prstGeom>
              <a:solidFill>
                <a:srgbClr val="FFFFFF"/>
              </a:solidFill>
              <a:ln w="15240">
                <a:solidFill>
                  <a:srgbClr val="D3E1F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Text 23">
                <a:extLst>
                  <a:ext uri="{FF2B5EF4-FFF2-40B4-BE49-F238E27FC236}">
                    <a16:creationId xmlns:a16="http://schemas.microsoft.com/office/drawing/2014/main" id="{7BBCB789-E02E-E8C3-4947-B54FB665E831}"/>
                  </a:ext>
                </a:extLst>
              </p:cNvPr>
              <p:cNvSpPr/>
              <p:nvPr/>
            </p:nvSpPr>
            <p:spPr>
              <a:xfrm>
                <a:off x="5806440" y="4233672"/>
                <a:ext cx="10972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>
                    <a:solidFill>
                      <a:srgbClr val="7FA06B"/>
                    </a:solidFill>
                  </a:rPr>
                  <a:t>26K</a:t>
                </a:r>
                <a:endParaRPr lang="en-US"/>
              </a:p>
            </p:txBody>
          </p:sp>
          <p:sp>
            <p:nvSpPr>
              <p:cNvPr id="97" name="Text 24">
                <a:extLst>
                  <a:ext uri="{FF2B5EF4-FFF2-40B4-BE49-F238E27FC236}">
                    <a16:creationId xmlns:a16="http://schemas.microsoft.com/office/drawing/2014/main" id="{583306A2-4B92-FF80-E557-EDDB77E6088D}"/>
                  </a:ext>
                </a:extLst>
              </p:cNvPr>
              <p:cNvSpPr/>
              <p:nvPr/>
            </p:nvSpPr>
            <p:spPr>
              <a:xfrm>
                <a:off x="5833872" y="4709160"/>
                <a:ext cx="1042416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Mendeley images</a:t>
                </a:r>
                <a:endParaRPr lang="en-US" sz="1600"/>
              </a:p>
            </p:txBody>
          </p:sp>
          <p:sp>
            <p:nvSpPr>
              <p:cNvPr id="98" name="Shape 25">
                <a:extLst>
                  <a:ext uri="{FF2B5EF4-FFF2-40B4-BE49-F238E27FC236}">
                    <a16:creationId xmlns:a16="http://schemas.microsoft.com/office/drawing/2014/main" id="{9400072A-B426-4B71-79BF-C5C679BC8C9C}"/>
                  </a:ext>
                </a:extLst>
              </p:cNvPr>
              <p:cNvSpPr/>
              <p:nvPr/>
            </p:nvSpPr>
            <p:spPr>
              <a:xfrm>
                <a:off x="7315200" y="4069080"/>
                <a:ext cx="1371600" cy="1234440"/>
              </a:xfrm>
              <a:prstGeom prst="roundRect">
                <a:avLst>
                  <a:gd name="adj" fmla="val 10370"/>
                </a:avLst>
              </a:prstGeom>
              <a:solidFill>
                <a:srgbClr val="FFFFFF"/>
              </a:solidFill>
              <a:ln w="15240">
                <a:solidFill>
                  <a:srgbClr val="D3E1F1"/>
                </a:solidFill>
                <a:prstDash val="solid"/>
              </a:ln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99" name="Text 26">
                <a:extLst>
                  <a:ext uri="{FF2B5EF4-FFF2-40B4-BE49-F238E27FC236}">
                    <a16:creationId xmlns:a16="http://schemas.microsoft.com/office/drawing/2014/main" id="{9FF36474-A0EC-80CA-959F-08FCB16ED3ED}"/>
                  </a:ext>
                </a:extLst>
              </p:cNvPr>
              <p:cNvSpPr/>
              <p:nvPr/>
            </p:nvSpPr>
            <p:spPr>
              <a:xfrm>
                <a:off x="7452360" y="4233672"/>
                <a:ext cx="109728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>
                    <a:solidFill>
                      <a:srgbClr val="7FA06B"/>
                    </a:solidFill>
                  </a:rPr>
                  <a:t>26</a:t>
                </a:r>
                <a:endParaRPr lang="en-US" sz="2000"/>
              </a:p>
            </p:txBody>
          </p:sp>
          <p:sp>
            <p:nvSpPr>
              <p:cNvPr id="100" name="Text 27">
                <a:extLst>
                  <a:ext uri="{FF2B5EF4-FFF2-40B4-BE49-F238E27FC236}">
                    <a16:creationId xmlns:a16="http://schemas.microsoft.com/office/drawing/2014/main" id="{EC0E9D91-AF70-3AF4-A7C6-8BF2D2716530}"/>
                  </a:ext>
                </a:extLst>
              </p:cNvPr>
              <p:cNvSpPr/>
              <p:nvPr/>
            </p:nvSpPr>
            <p:spPr>
              <a:xfrm>
                <a:off x="7479792" y="4709160"/>
                <a:ext cx="1042416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A–Z classes</a:t>
                </a:r>
                <a:endParaRPr lang="en-US" sz="1600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5D6B343-1E19-CAE5-61AE-FCF6B4EAE72F}"/>
                </a:ext>
              </a:extLst>
            </p:cNvPr>
            <p:cNvGrpSpPr/>
            <p:nvPr/>
          </p:nvGrpSpPr>
          <p:grpSpPr>
            <a:xfrm>
              <a:off x="2020874" y="4853824"/>
              <a:ext cx="3260937" cy="469295"/>
              <a:chOff x="914400" y="1691640"/>
              <a:chExt cx="4389120" cy="1874520"/>
            </a:xfrm>
          </p:grpSpPr>
          <p:sp>
            <p:nvSpPr>
              <p:cNvPr id="102" name="Shape 8">
                <a:extLst>
                  <a:ext uri="{FF2B5EF4-FFF2-40B4-BE49-F238E27FC236}">
                    <a16:creationId xmlns:a16="http://schemas.microsoft.com/office/drawing/2014/main" id="{595FD2AA-5751-2733-3FF2-16737E6BDE40}"/>
                  </a:ext>
                </a:extLst>
              </p:cNvPr>
              <p:cNvSpPr/>
              <p:nvPr/>
            </p:nvSpPr>
            <p:spPr>
              <a:xfrm>
                <a:off x="914400" y="1691640"/>
                <a:ext cx="4389120" cy="1874520"/>
              </a:xfrm>
              <a:prstGeom prst="roundRect">
                <a:avLst>
                  <a:gd name="adj" fmla="val 4878"/>
                </a:avLst>
              </a:prstGeom>
              <a:solidFill>
                <a:srgbClr val="FFFFFF"/>
              </a:solidFill>
              <a:ln w="15875">
                <a:solidFill>
                  <a:srgbClr val="D3E1F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Shape 9">
                <a:extLst>
                  <a:ext uri="{FF2B5EF4-FFF2-40B4-BE49-F238E27FC236}">
                    <a16:creationId xmlns:a16="http://schemas.microsoft.com/office/drawing/2014/main" id="{A982213E-83BB-86A4-8587-05FEBEB0363E}"/>
                  </a:ext>
                </a:extLst>
              </p:cNvPr>
              <p:cNvSpPr/>
              <p:nvPr/>
            </p:nvSpPr>
            <p:spPr>
              <a:xfrm>
                <a:off x="914400" y="1691640"/>
                <a:ext cx="109728" cy="1874520"/>
              </a:xfrm>
              <a:prstGeom prst="rect">
                <a:avLst/>
              </a:prstGeom>
              <a:solidFill>
                <a:srgbClr val="90ABCE"/>
              </a:solidFill>
              <a:ln w="12700">
                <a:solidFill>
                  <a:srgbClr val="90ABCE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Text 10">
                <a:extLst>
                  <a:ext uri="{FF2B5EF4-FFF2-40B4-BE49-F238E27FC236}">
                    <a16:creationId xmlns:a16="http://schemas.microsoft.com/office/drawing/2014/main" id="{F0AF08D7-DE58-E7A9-0227-30A985289667}"/>
                  </a:ext>
                </a:extLst>
              </p:cNvPr>
              <p:cNvSpPr/>
              <p:nvPr/>
            </p:nvSpPr>
            <p:spPr>
              <a:xfrm>
                <a:off x="1217441" y="2423557"/>
                <a:ext cx="3968496" cy="2743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>
                    <a:solidFill>
                      <a:srgbClr val="202A41"/>
                    </a:solidFill>
                  </a:rPr>
                  <a:t>Kaggle ASL Alphabet</a:t>
                </a:r>
                <a:endParaRPr lang="en-US" sz="1600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CCA1A1A3-A02E-5B7C-FA75-757A11EB7723}"/>
                </a:ext>
              </a:extLst>
            </p:cNvPr>
            <p:cNvGrpSpPr/>
            <p:nvPr/>
          </p:nvGrpSpPr>
          <p:grpSpPr>
            <a:xfrm>
              <a:off x="7821804" y="4853825"/>
              <a:ext cx="3337234" cy="469295"/>
              <a:chOff x="5577840" y="1691640"/>
              <a:chExt cx="4389120" cy="1874520"/>
            </a:xfrm>
          </p:grpSpPr>
          <p:sp>
            <p:nvSpPr>
              <p:cNvPr id="107" name="Shape 12">
                <a:extLst>
                  <a:ext uri="{FF2B5EF4-FFF2-40B4-BE49-F238E27FC236}">
                    <a16:creationId xmlns:a16="http://schemas.microsoft.com/office/drawing/2014/main" id="{84A0B9C0-EAE7-69A7-71BA-413BDECAA278}"/>
                  </a:ext>
                </a:extLst>
              </p:cNvPr>
              <p:cNvSpPr/>
              <p:nvPr/>
            </p:nvSpPr>
            <p:spPr>
              <a:xfrm>
                <a:off x="5577840" y="1691640"/>
                <a:ext cx="4389120" cy="1874520"/>
              </a:xfrm>
              <a:prstGeom prst="roundRect">
                <a:avLst>
                  <a:gd name="adj" fmla="val 4878"/>
                </a:avLst>
              </a:prstGeom>
              <a:solidFill>
                <a:srgbClr val="FFFFFF"/>
              </a:solidFill>
              <a:ln w="15875">
                <a:solidFill>
                  <a:srgbClr val="D3E1F1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Shape 13">
                <a:extLst>
                  <a:ext uri="{FF2B5EF4-FFF2-40B4-BE49-F238E27FC236}">
                    <a16:creationId xmlns:a16="http://schemas.microsoft.com/office/drawing/2014/main" id="{C59D451D-F4DF-C3D7-6964-04F265F1D232}"/>
                  </a:ext>
                </a:extLst>
              </p:cNvPr>
              <p:cNvSpPr/>
              <p:nvPr/>
            </p:nvSpPr>
            <p:spPr>
              <a:xfrm>
                <a:off x="5577840" y="1691640"/>
                <a:ext cx="109728" cy="1874520"/>
              </a:xfrm>
              <a:prstGeom prst="rect">
                <a:avLst/>
              </a:prstGeom>
              <a:solidFill>
                <a:srgbClr val="7FA06B"/>
              </a:solidFill>
              <a:ln w="12700">
                <a:solidFill>
                  <a:srgbClr val="7FA06B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Text 14">
                <a:extLst>
                  <a:ext uri="{FF2B5EF4-FFF2-40B4-BE49-F238E27FC236}">
                    <a16:creationId xmlns:a16="http://schemas.microsoft.com/office/drawing/2014/main" id="{9A851919-86B8-6182-6D4D-442AD41AD6F2}"/>
                  </a:ext>
                </a:extLst>
              </p:cNvPr>
              <p:cNvSpPr/>
              <p:nvPr/>
            </p:nvSpPr>
            <p:spPr>
              <a:xfrm>
                <a:off x="5833872" y="1856230"/>
                <a:ext cx="3968496" cy="133796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>
                    <a:solidFill>
                      <a:srgbClr val="202A41"/>
                    </a:solidFill>
                  </a:rPr>
                  <a:t>Mendeley ASL Dataset</a:t>
                </a:r>
                <a:endParaRPr lang="en-US" sz="1600"/>
              </a:p>
            </p:txBody>
          </p:sp>
        </p:grpSp>
        <p:sp>
          <p:nvSpPr>
            <p:cNvPr id="111" name="Text 7">
              <a:extLst>
                <a:ext uri="{FF2B5EF4-FFF2-40B4-BE49-F238E27FC236}">
                  <a16:creationId xmlns:a16="http://schemas.microsoft.com/office/drawing/2014/main" id="{2D78898C-DA4B-D228-59CF-724FEDA8E2B3}"/>
                </a:ext>
              </a:extLst>
            </p:cNvPr>
            <p:cNvSpPr/>
            <p:nvPr/>
          </p:nvSpPr>
          <p:spPr>
            <a:xfrm>
              <a:off x="1234440" y="4316226"/>
              <a:ext cx="10058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516988"/>
                  </a:solidFill>
                </a:rPr>
                <a:t>Two public ASL datasets were combined to create a balanced A–Z dataset.</a:t>
              </a:r>
              <a:endParaRPr lang="en-US" sz="1800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A8AB0DA-773B-F5C9-18E8-EB332CBAD3DA}"/>
              </a:ext>
            </a:extLst>
          </p:cNvPr>
          <p:cNvGrpSpPr/>
          <p:nvPr/>
        </p:nvGrpSpPr>
        <p:grpSpPr>
          <a:xfrm>
            <a:off x="2373356" y="4302751"/>
            <a:ext cx="7691870" cy="2103177"/>
            <a:chOff x="2633877" y="4090949"/>
            <a:chExt cx="7441428" cy="1891142"/>
          </a:xfrm>
        </p:grpSpPr>
        <p:pic>
          <p:nvPicPr>
            <p:cNvPr id="115" name="Image 1" descr="/mnt/data/docx_media/image4.jpeg">
              <a:extLst>
                <a:ext uri="{FF2B5EF4-FFF2-40B4-BE49-F238E27FC236}">
                  <a16:creationId xmlns:a16="http://schemas.microsoft.com/office/drawing/2014/main" id="{11C436EB-EAE3-44D6-005F-BBFF89009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01322" y="4090949"/>
              <a:ext cx="7373983" cy="1585459"/>
            </a:xfrm>
            <a:prstGeom prst="rect">
              <a:avLst/>
            </a:prstGeom>
          </p:spPr>
        </p:pic>
        <p:sp>
          <p:nvSpPr>
            <p:cNvPr id="122" name="Text 11">
              <a:extLst>
                <a:ext uri="{FF2B5EF4-FFF2-40B4-BE49-F238E27FC236}">
                  <a16:creationId xmlns:a16="http://schemas.microsoft.com/office/drawing/2014/main" id="{696310B1-26D1-C810-FA8D-668EE102A412}"/>
                </a:ext>
              </a:extLst>
            </p:cNvPr>
            <p:cNvSpPr/>
            <p:nvPr/>
          </p:nvSpPr>
          <p:spPr>
            <a:xfrm>
              <a:off x="2633877" y="5806049"/>
              <a:ext cx="2051034" cy="1760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/>
                <a:t>M: hidden features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F79C20-556A-8EF2-32B6-4F204ED9E931}"/>
              </a:ext>
            </a:extLst>
          </p:cNvPr>
          <p:cNvGrpSpPr/>
          <p:nvPr/>
        </p:nvGrpSpPr>
        <p:grpSpPr>
          <a:xfrm>
            <a:off x="2318445" y="4318226"/>
            <a:ext cx="7704236" cy="2192301"/>
            <a:chOff x="2318445" y="4318227"/>
            <a:chExt cx="7569360" cy="1973404"/>
          </a:xfrm>
        </p:grpSpPr>
        <p:sp>
          <p:nvSpPr>
            <p:cNvPr id="124" name="Text 9">
              <a:extLst>
                <a:ext uri="{FF2B5EF4-FFF2-40B4-BE49-F238E27FC236}">
                  <a16:creationId xmlns:a16="http://schemas.microsoft.com/office/drawing/2014/main" id="{5A6ED0BD-78CA-1E5E-6ABA-91C1AB701B45}"/>
                </a:ext>
              </a:extLst>
            </p:cNvPr>
            <p:cNvSpPr/>
            <p:nvPr/>
          </p:nvSpPr>
          <p:spPr>
            <a:xfrm>
              <a:off x="2318445" y="6023095"/>
              <a:ext cx="2674482" cy="2685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/>
                <a:t>G: label contamination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95D37B6-69A6-7C6C-0EAF-67387A37D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4655" y="4318227"/>
              <a:ext cx="7423150" cy="160134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39" y="237744"/>
            <a:ext cx="86345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Three-phase dataset preprocessing pipeline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PIPELINE</a:t>
            </a:r>
            <a:endParaRPr lang="en-US" sz="78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668703-AD31-D698-7883-FFFBCFB66F07}"/>
              </a:ext>
            </a:extLst>
          </p:cNvPr>
          <p:cNvGrpSpPr/>
          <p:nvPr/>
        </p:nvGrpSpPr>
        <p:grpSpPr>
          <a:xfrm>
            <a:off x="6705161" y="1432117"/>
            <a:ext cx="4971728" cy="4602923"/>
            <a:chOff x="6629400" y="1051560"/>
            <a:chExt cx="4480560" cy="4069080"/>
          </a:xfrm>
        </p:grpSpPr>
        <p:sp>
          <p:nvSpPr>
            <p:cNvPr id="10" name="Shape 7"/>
            <p:cNvSpPr/>
            <p:nvPr/>
          </p:nvSpPr>
          <p:spPr>
            <a:xfrm>
              <a:off x="6629400" y="1051560"/>
              <a:ext cx="4480560" cy="1143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8"/>
            <p:cNvSpPr/>
            <p:nvPr/>
          </p:nvSpPr>
          <p:spPr>
            <a:xfrm>
              <a:off x="6629400" y="1051560"/>
              <a:ext cx="109728" cy="1143000"/>
            </a:xfrm>
            <a:prstGeom prst="rect">
              <a:avLst/>
            </a:prstGeom>
            <a:solidFill>
              <a:srgbClr val="90ABCE"/>
            </a:solidFill>
            <a:ln w="12700">
              <a:solidFill>
                <a:srgbClr val="90ABC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6885432" y="1216152"/>
              <a:ext cx="40599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Phase 1: Visual audit</a:t>
              </a:r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6885432" y="1581912"/>
              <a:ext cx="4059936" cy="4572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 lnSpcReduction="10000"/>
            </a:bodyPr>
            <a:lstStyle/>
            <a:p>
              <a:r>
                <a:rPr lang="en-US"/>
                <a:t>Checked compatibility by orientation, hand shape, and lighting</a:t>
              </a:r>
              <a:endParaRPr lang="en-US" sz="1600"/>
            </a:p>
          </p:txBody>
        </p:sp>
        <p:sp>
          <p:nvSpPr>
            <p:cNvPr id="14" name="Shape 11"/>
            <p:cNvSpPr/>
            <p:nvPr/>
          </p:nvSpPr>
          <p:spPr>
            <a:xfrm>
              <a:off x="6629400" y="2514600"/>
              <a:ext cx="4480560" cy="1143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2"/>
            <p:cNvSpPr/>
            <p:nvPr/>
          </p:nvSpPr>
          <p:spPr>
            <a:xfrm>
              <a:off x="6629400" y="2514600"/>
              <a:ext cx="109728" cy="1143000"/>
            </a:xfrm>
            <a:prstGeom prst="rect">
              <a:avLst/>
            </a:prstGeom>
            <a:solidFill>
              <a:srgbClr val="7FA06B"/>
            </a:solidFill>
            <a:ln w="12700">
              <a:solidFill>
                <a:srgbClr val="7FA0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3"/>
            <p:cNvSpPr/>
            <p:nvPr/>
          </p:nvSpPr>
          <p:spPr>
            <a:xfrm>
              <a:off x="6885432" y="2679192"/>
              <a:ext cx="40599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Phase 2: Preprocess 87K</a:t>
              </a:r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6885432" y="3044952"/>
              <a:ext cx="4059936" cy="4572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r>
                <a:rPr lang="en-US"/>
                <a:t>Applied brightness filtering, hand cropping, and contrast checks</a:t>
              </a:r>
              <a:endParaRPr lang="en-US" sz="1600"/>
            </a:p>
          </p:txBody>
        </p:sp>
        <p:sp>
          <p:nvSpPr>
            <p:cNvPr id="18" name="Shape 15"/>
            <p:cNvSpPr/>
            <p:nvPr/>
          </p:nvSpPr>
          <p:spPr>
            <a:xfrm>
              <a:off x="6629400" y="3977640"/>
              <a:ext cx="4480560" cy="1143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6"/>
            <p:cNvSpPr/>
            <p:nvPr/>
          </p:nvSpPr>
          <p:spPr>
            <a:xfrm>
              <a:off x="6629400" y="3977640"/>
              <a:ext cx="109728" cy="1143000"/>
            </a:xfrm>
            <a:prstGeom prst="rect">
              <a:avLst/>
            </a:prstGeom>
            <a:solidFill>
              <a:srgbClr val="B9955B"/>
            </a:solidFill>
            <a:ln w="12700">
              <a:solidFill>
                <a:srgbClr val="B995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6885432" y="4142232"/>
              <a:ext cx="40599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Phase 3: Merge</a:t>
              </a:r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6885432" y="4507992"/>
              <a:ext cx="4059936" cy="4572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r>
                <a:rPr lang="en-US"/>
                <a:t>Created a balanced 26K-image dataset with 1,000 images per class</a:t>
              </a:r>
              <a:endParaRPr lang="en-US" sz="1600"/>
            </a:p>
          </p:txBody>
        </p:sp>
      </p:grpSp>
      <p:sp>
        <p:nvSpPr>
          <p:cNvPr id="23" name="Text 20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24" name="Text 21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06</a:t>
            </a:r>
            <a:endParaRPr lang="en-US" sz="90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EEEB0ED-9590-8E3A-A35E-E7E2D5920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" y="995389"/>
            <a:ext cx="5327599" cy="5327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split and Model Selection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DATASET</a:t>
            </a:r>
            <a:endParaRPr lang="en-US" sz="780"/>
          </a:p>
        </p:txBody>
      </p:sp>
      <p:sp>
        <p:nvSpPr>
          <p:cNvPr id="9" name="Text 7"/>
          <p:cNvSpPr/>
          <p:nvPr/>
        </p:nvSpPr>
        <p:spPr>
          <a:xfrm>
            <a:off x="960120" y="2108169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16988"/>
                </a:solidFill>
              </a:rPr>
              <a:t>The standardized dataset is balanced across 26 A–Z letter classes and split with a fixed random seed.</a:t>
            </a:r>
            <a:endParaRPr lang="en-US" sz="16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6AE0CE0-4592-5EC7-E928-81CEEECF6DC5}"/>
              </a:ext>
            </a:extLst>
          </p:cNvPr>
          <p:cNvGrpSpPr/>
          <p:nvPr/>
        </p:nvGrpSpPr>
        <p:grpSpPr>
          <a:xfrm>
            <a:off x="2020824" y="1237405"/>
            <a:ext cx="8220456" cy="683388"/>
            <a:chOff x="1005840" y="1691640"/>
            <a:chExt cx="6126480" cy="1325880"/>
          </a:xfrm>
        </p:grpSpPr>
        <p:sp>
          <p:nvSpPr>
            <p:cNvPr id="10" name="Shape 8"/>
            <p:cNvSpPr/>
            <p:nvPr/>
          </p:nvSpPr>
          <p:spPr>
            <a:xfrm>
              <a:off x="1005840" y="1691640"/>
              <a:ext cx="1828800" cy="1325880"/>
            </a:xfrm>
            <a:prstGeom prst="roundRect">
              <a:avLst>
                <a:gd name="adj" fmla="val 9655"/>
              </a:avLst>
            </a:prstGeom>
            <a:solidFill>
              <a:srgbClr val="FFFFFF"/>
            </a:solidFill>
            <a:ln w="15240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142999" y="1905595"/>
              <a:ext cx="1554480" cy="4114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202A41"/>
                  </a:solidFill>
                </a:rPr>
                <a:t>26,000</a:t>
              </a:r>
              <a:endParaRPr lang="en-US" sz="2000"/>
            </a:p>
          </p:txBody>
        </p:sp>
        <p:sp>
          <p:nvSpPr>
            <p:cNvPr id="12" name="Text 10"/>
            <p:cNvSpPr/>
            <p:nvPr/>
          </p:nvSpPr>
          <p:spPr>
            <a:xfrm>
              <a:off x="1170432" y="2482700"/>
              <a:ext cx="1499616" cy="384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600">
                  <a:solidFill>
                    <a:srgbClr val="1F2937"/>
                  </a:solidFill>
                </a:rPr>
                <a:t>total images</a:t>
              </a:r>
              <a:endParaRPr lang="en-US" sz="1600"/>
            </a:p>
          </p:txBody>
        </p:sp>
        <p:sp>
          <p:nvSpPr>
            <p:cNvPr id="13" name="Shape 11"/>
            <p:cNvSpPr/>
            <p:nvPr/>
          </p:nvSpPr>
          <p:spPr>
            <a:xfrm>
              <a:off x="3154680" y="1691640"/>
              <a:ext cx="1828800" cy="1325880"/>
            </a:xfrm>
            <a:prstGeom prst="roundRect">
              <a:avLst>
                <a:gd name="adj" fmla="val 9655"/>
              </a:avLst>
            </a:prstGeom>
            <a:solidFill>
              <a:srgbClr val="FFFFFF"/>
            </a:solidFill>
            <a:ln w="15240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1904610"/>
              <a:ext cx="1554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202A41"/>
                  </a:solidFill>
                </a:rPr>
                <a:t>26</a:t>
              </a:r>
              <a:endParaRPr lang="en-US" sz="2000"/>
            </a:p>
          </p:txBody>
        </p:sp>
        <p:sp>
          <p:nvSpPr>
            <p:cNvPr id="15" name="Text 13"/>
            <p:cNvSpPr/>
            <p:nvPr/>
          </p:nvSpPr>
          <p:spPr>
            <a:xfrm>
              <a:off x="3319272" y="2480362"/>
              <a:ext cx="1499616" cy="3840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600">
                  <a:solidFill>
                    <a:srgbClr val="1F2937"/>
                  </a:solidFill>
                </a:rPr>
                <a:t>letter classes</a:t>
              </a:r>
              <a:endParaRPr lang="en-US" sz="1600"/>
            </a:p>
          </p:txBody>
        </p:sp>
        <p:sp>
          <p:nvSpPr>
            <p:cNvPr id="16" name="Shape 14"/>
            <p:cNvSpPr/>
            <p:nvPr/>
          </p:nvSpPr>
          <p:spPr>
            <a:xfrm>
              <a:off x="5303520" y="1691640"/>
              <a:ext cx="1828800" cy="1325880"/>
            </a:xfrm>
            <a:prstGeom prst="roundRect">
              <a:avLst>
                <a:gd name="adj" fmla="val 9655"/>
              </a:avLst>
            </a:prstGeom>
            <a:solidFill>
              <a:srgbClr val="FFFFFF"/>
            </a:solidFill>
            <a:ln w="15240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5478905" y="1904610"/>
              <a:ext cx="1554480" cy="4114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202A41"/>
                  </a:solidFill>
                </a:rPr>
                <a:t>1,000</a:t>
              </a:r>
              <a:endParaRPr lang="en-US" sz="2000"/>
            </a:p>
          </p:txBody>
        </p:sp>
        <p:sp>
          <p:nvSpPr>
            <p:cNvPr id="18" name="Text 16"/>
            <p:cNvSpPr/>
            <p:nvPr/>
          </p:nvSpPr>
          <p:spPr>
            <a:xfrm>
              <a:off x="5516281" y="2601354"/>
              <a:ext cx="1403277" cy="27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>
                  <a:solidFill>
                    <a:srgbClr val="1F2937"/>
                  </a:solidFill>
                </a:rPr>
                <a:t>images per class</a:t>
              </a:r>
              <a:endParaRPr lang="en-US" sz="160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6552F3-B176-1B52-4098-91DF79882B86}"/>
              </a:ext>
            </a:extLst>
          </p:cNvPr>
          <p:cNvGrpSpPr/>
          <p:nvPr/>
        </p:nvGrpSpPr>
        <p:grpSpPr>
          <a:xfrm>
            <a:off x="2118228" y="2557713"/>
            <a:ext cx="8784646" cy="769736"/>
            <a:chOff x="2048844" y="2966167"/>
            <a:chExt cx="8784646" cy="76973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F7CF4EF-ED16-F693-A82B-245ED9A6D039}"/>
                </a:ext>
              </a:extLst>
            </p:cNvPr>
            <p:cNvGrpSpPr/>
            <p:nvPr/>
          </p:nvGrpSpPr>
          <p:grpSpPr>
            <a:xfrm>
              <a:off x="2048844" y="2966167"/>
              <a:ext cx="8115300" cy="258645"/>
              <a:chOff x="1563624" y="3107136"/>
              <a:chExt cx="8115300" cy="258645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1563624" y="3109749"/>
                <a:ext cx="6492240" cy="256032"/>
              </a:xfrm>
              <a:prstGeom prst="rect">
                <a:avLst/>
              </a:prstGeom>
              <a:solidFill>
                <a:srgbClr val="202A41"/>
              </a:solidFill>
              <a:ln w="12700">
                <a:solidFill>
                  <a:srgbClr val="202A41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8055864" y="3107136"/>
                <a:ext cx="811530" cy="256032"/>
              </a:xfrm>
              <a:prstGeom prst="rect">
                <a:avLst/>
              </a:prstGeom>
              <a:solidFill>
                <a:srgbClr val="6E86A5"/>
              </a:solidFill>
              <a:ln w="12700">
                <a:solidFill>
                  <a:srgbClr val="6E86A5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8867394" y="3109749"/>
                <a:ext cx="811530" cy="256032"/>
              </a:xfrm>
              <a:prstGeom prst="rect">
                <a:avLst/>
              </a:prstGeom>
              <a:solidFill>
                <a:srgbClr val="7FA06B"/>
              </a:solidFill>
              <a:ln w="12700">
                <a:solidFill>
                  <a:srgbClr val="7FA06B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E4C56B7-13AA-FB9B-D983-A4958F540F32}"/>
                </a:ext>
              </a:extLst>
            </p:cNvPr>
            <p:cNvGrpSpPr/>
            <p:nvPr/>
          </p:nvGrpSpPr>
          <p:grpSpPr>
            <a:xfrm>
              <a:off x="4699648" y="3324124"/>
              <a:ext cx="6133842" cy="411779"/>
              <a:chOff x="4693942" y="3434463"/>
              <a:chExt cx="5778350" cy="411779"/>
            </a:xfrm>
          </p:grpSpPr>
          <p:sp>
            <p:nvSpPr>
              <p:cNvPr id="22" name="Text 20"/>
              <p:cNvSpPr/>
              <p:nvPr/>
            </p:nvSpPr>
            <p:spPr>
              <a:xfrm>
                <a:off x="4693942" y="3434463"/>
                <a:ext cx="118872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>
                    <a:solidFill>
                      <a:srgbClr val="202A41"/>
                    </a:solidFill>
                  </a:rPr>
                  <a:t>Train</a:t>
                </a:r>
                <a:endParaRPr lang="en-US" sz="160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4693942" y="3639217"/>
                <a:ext cx="164592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80%</a:t>
                </a:r>
                <a:endParaRPr lang="en-US" sz="160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8192828" y="3436265"/>
                <a:ext cx="118872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>
                    <a:solidFill>
                      <a:srgbClr val="202A41"/>
                    </a:solidFill>
                  </a:rPr>
                  <a:t>Validation</a:t>
                </a:r>
                <a:endParaRPr lang="en-US" sz="160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8218954" y="3645074"/>
                <a:ext cx="568234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10%</a:t>
                </a:r>
                <a:endParaRPr lang="en-US" sz="160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9283572" y="3441632"/>
                <a:ext cx="118872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>
                    <a:solidFill>
                      <a:srgbClr val="202A41"/>
                    </a:solidFill>
                  </a:rPr>
                  <a:t>Test</a:t>
                </a:r>
                <a:endParaRPr lang="en-US" sz="160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9307935" y="3664179"/>
                <a:ext cx="529046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1F2937"/>
                    </a:solidFill>
                  </a:rPr>
                  <a:t>10%</a:t>
                </a:r>
                <a:endParaRPr lang="en-US" sz="1600"/>
              </a:p>
            </p:txBody>
          </p:sp>
        </p:grpSp>
      </p:grpSp>
      <p:sp>
        <p:nvSpPr>
          <p:cNvPr id="35" name="Text 33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07</a:t>
            </a:r>
            <a:endParaRPr lang="en-US" sz="90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FAB8EAF-9CC0-0CFD-909A-BA6B000240E9}"/>
              </a:ext>
            </a:extLst>
          </p:cNvPr>
          <p:cNvGrpSpPr/>
          <p:nvPr/>
        </p:nvGrpSpPr>
        <p:grpSpPr>
          <a:xfrm>
            <a:off x="1197128" y="4221584"/>
            <a:ext cx="10324312" cy="1900795"/>
            <a:chOff x="1307592" y="1685318"/>
            <a:chExt cx="9802368" cy="2978122"/>
          </a:xfrm>
        </p:grpSpPr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95C0379B-2980-0BCF-7F3A-44DD4475D262}"/>
                </a:ext>
              </a:extLst>
            </p:cNvPr>
            <p:cNvSpPr/>
            <p:nvPr/>
          </p:nvSpPr>
          <p:spPr>
            <a:xfrm>
              <a:off x="1307592" y="1685318"/>
              <a:ext cx="4651210" cy="29718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ED54F1AD-6A2E-FCD8-11B8-349719F739D6}"/>
                </a:ext>
              </a:extLst>
            </p:cNvPr>
            <p:cNvSpPr/>
            <p:nvPr/>
          </p:nvSpPr>
          <p:spPr>
            <a:xfrm>
              <a:off x="1307592" y="1685318"/>
              <a:ext cx="109728" cy="2971800"/>
            </a:xfrm>
            <a:prstGeom prst="rect">
              <a:avLst/>
            </a:prstGeom>
            <a:solidFill>
              <a:srgbClr val="202A41"/>
            </a:solidFill>
            <a:ln w="12700">
              <a:solidFill>
                <a:srgbClr val="202A4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99D8B222-F055-E779-6479-A23D20462A2E}"/>
                </a:ext>
              </a:extLst>
            </p:cNvPr>
            <p:cNvSpPr/>
            <p:nvPr/>
          </p:nvSpPr>
          <p:spPr>
            <a:xfrm>
              <a:off x="1606258" y="2031646"/>
              <a:ext cx="4242816" cy="27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ResNet-50</a:t>
              </a:r>
              <a:endParaRPr lang="en-US"/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925F1583-68B5-CD27-A778-91485FF3C1D2}"/>
                </a:ext>
              </a:extLst>
            </p:cNvPr>
            <p:cNvSpPr/>
            <p:nvPr/>
          </p:nvSpPr>
          <p:spPr>
            <a:xfrm>
              <a:off x="1563623" y="2336257"/>
              <a:ext cx="4287691" cy="22860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rgbClr val="1F2937"/>
                  </a:solidFill>
                </a:rPr>
                <a:t>Strong baseline model for high image-classification accuracy.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/>
                <a:t>Good at learning complex hand-shape features.</a:t>
              </a:r>
            </a:p>
          </p:txBody>
        </p:sp>
        <p:sp>
          <p:nvSpPr>
            <p:cNvPr id="47" name="Shape 12">
              <a:extLst>
                <a:ext uri="{FF2B5EF4-FFF2-40B4-BE49-F238E27FC236}">
                  <a16:creationId xmlns:a16="http://schemas.microsoft.com/office/drawing/2014/main" id="{D9303293-7690-1C5D-AE1C-F17650421FFD}"/>
                </a:ext>
              </a:extLst>
            </p:cNvPr>
            <p:cNvSpPr/>
            <p:nvPr/>
          </p:nvSpPr>
          <p:spPr>
            <a:xfrm>
              <a:off x="6446520" y="1691640"/>
              <a:ext cx="4663440" cy="29718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8" name="Shape 13">
              <a:extLst>
                <a:ext uri="{FF2B5EF4-FFF2-40B4-BE49-F238E27FC236}">
                  <a16:creationId xmlns:a16="http://schemas.microsoft.com/office/drawing/2014/main" id="{56A02D45-3C53-A990-35AC-9C31348ECDCE}"/>
                </a:ext>
              </a:extLst>
            </p:cNvPr>
            <p:cNvSpPr/>
            <p:nvPr/>
          </p:nvSpPr>
          <p:spPr>
            <a:xfrm>
              <a:off x="6446520" y="1691640"/>
              <a:ext cx="109728" cy="2971800"/>
            </a:xfrm>
            <a:prstGeom prst="rect">
              <a:avLst/>
            </a:prstGeom>
            <a:solidFill>
              <a:srgbClr val="7FA06B"/>
            </a:solidFill>
            <a:ln w="12700">
              <a:solidFill>
                <a:srgbClr val="7FA0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941D36B1-33C0-E91B-0682-B710D1485412}"/>
                </a:ext>
              </a:extLst>
            </p:cNvPr>
            <p:cNvSpPr/>
            <p:nvPr/>
          </p:nvSpPr>
          <p:spPr>
            <a:xfrm>
              <a:off x="6745186" y="2058955"/>
              <a:ext cx="4242816" cy="2743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MobileNetV2</a:t>
              </a:r>
              <a:endParaRPr lang="en-US"/>
            </a:p>
          </p:txBody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75022E92-BA99-5987-AA5F-2897624EA0E0}"/>
                </a:ext>
              </a:extLst>
            </p:cNvPr>
            <p:cNvSpPr/>
            <p:nvPr/>
          </p:nvSpPr>
          <p:spPr>
            <a:xfrm>
              <a:off x="6702552" y="2342579"/>
              <a:ext cx="4242816" cy="22860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rgbClr val="1F2937"/>
                  </a:solidFill>
                </a:rPr>
                <a:t>Lightweight and faster, so it is easier to deploy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/>
                <a:t>Better suited for a </a:t>
              </a:r>
              <a:r>
                <a:rPr lang="en-US" sz="1600" err="1"/>
                <a:t>Streamlit</a:t>
              </a:r>
              <a:r>
                <a:rPr lang="en-US" sz="1600"/>
                <a:t> demo and real-time use.</a:t>
              </a:r>
            </a:p>
          </p:txBody>
        </p:sp>
      </p:grpSp>
      <p:sp>
        <p:nvSpPr>
          <p:cNvPr id="51" name="Text 28">
            <a:extLst>
              <a:ext uri="{FF2B5EF4-FFF2-40B4-BE49-F238E27FC236}">
                <a16:creationId xmlns:a16="http://schemas.microsoft.com/office/drawing/2014/main" id="{EAF72569-5826-44FC-2095-28838B7E6948}"/>
              </a:ext>
            </a:extLst>
          </p:cNvPr>
          <p:cNvSpPr/>
          <p:nvPr/>
        </p:nvSpPr>
        <p:spPr>
          <a:xfrm>
            <a:off x="5146936" y="3731999"/>
            <a:ext cx="2321383" cy="41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</a:rPr>
              <a:t>CHOSEN MODELS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ResNet-50 Training algorithm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TRAINING</a:t>
            </a:r>
            <a:endParaRPr lang="en-US" sz="780"/>
          </a:p>
        </p:txBody>
      </p:sp>
      <p:sp>
        <p:nvSpPr>
          <p:cNvPr id="9" name="Text 7"/>
          <p:cNvSpPr/>
          <p:nvPr/>
        </p:nvSpPr>
        <p:spPr>
          <a:xfrm>
            <a:off x="1106424" y="1042416"/>
            <a:ext cx="10643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16988"/>
                </a:solidFill>
              </a:rPr>
              <a:t>Two-phase transfer learning adapts pretrained feature extractors to the ASL alphabet task.</a:t>
            </a:r>
            <a:endParaRPr lang="en-US" sz="180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09</a:t>
            </a:r>
            <a:endParaRPr lang="en-US" sz="90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7BF920F-7B38-3F6C-8490-BB15B2953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00" b="3715"/>
          <a:stretch>
            <a:fillRect/>
          </a:stretch>
        </p:blipFill>
        <p:spPr>
          <a:xfrm>
            <a:off x="1234440" y="1380071"/>
            <a:ext cx="4729480" cy="5075593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15A2BEA9-527F-8902-9E4F-C164147CE8A6}"/>
              </a:ext>
            </a:extLst>
          </p:cNvPr>
          <p:cNvGrpSpPr/>
          <p:nvPr/>
        </p:nvGrpSpPr>
        <p:grpSpPr>
          <a:xfrm>
            <a:off x="6614104" y="1865377"/>
            <a:ext cx="4682930" cy="4195065"/>
            <a:chOff x="6629400" y="1051560"/>
            <a:chExt cx="4480560" cy="4069080"/>
          </a:xfrm>
        </p:grpSpPr>
        <p:sp>
          <p:nvSpPr>
            <p:cNvPr id="52" name="Shape 7">
              <a:extLst>
                <a:ext uri="{FF2B5EF4-FFF2-40B4-BE49-F238E27FC236}">
                  <a16:creationId xmlns:a16="http://schemas.microsoft.com/office/drawing/2014/main" id="{FD68E534-D228-DF08-4B57-414462EF5697}"/>
                </a:ext>
              </a:extLst>
            </p:cNvPr>
            <p:cNvSpPr/>
            <p:nvPr/>
          </p:nvSpPr>
          <p:spPr>
            <a:xfrm>
              <a:off x="6629400" y="1051560"/>
              <a:ext cx="4480560" cy="1143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8">
              <a:extLst>
                <a:ext uri="{FF2B5EF4-FFF2-40B4-BE49-F238E27FC236}">
                  <a16:creationId xmlns:a16="http://schemas.microsoft.com/office/drawing/2014/main" id="{2F457E9E-4000-5F1B-D778-AD474F13BF2F}"/>
                </a:ext>
              </a:extLst>
            </p:cNvPr>
            <p:cNvSpPr/>
            <p:nvPr/>
          </p:nvSpPr>
          <p:spPr>
            <a:xfrm>
              <a:off x="6629400" y="1051560"/>
              <a:ext cx="109728" cy="1143000"/>
            </a:xfrm>
            <a:prstGeom prst="rect">
              <a:avLst/>
            </a:prstGeom>
            <a:solidFill>
              <a:srgbClr val="90ABCE"/>
            </a:solidFill>
            <a:ln w="12700">
              <a:solidFill>
                <a:srgbClr val="90ABC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9">
              <a:extLst>
                <a:ext uri="{FF2B5EF4-FFF2-40B4-BE49-F238E27FC236}">
                  <a16:creationId xmlns:a16="http://schemas.microsoft.com/office/drawing/2014/main" id="{4F39250B-6CD2-FB0A-B0A5-123242BB326A}"/>
                </a:ext>
              </a:extLst>
            </p:cNvPr>
            <p:cNvSpPr/>
            <p:nvPr/>
          </p:nvSpPr>
          <p:spPr>
            <a:xfrm>
              <a:off x="6894576" y="1284001"/>
              <a:ext cx="4039113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02A41"/>
                  </a:solidFill>
                </a:rPr>
                <a:t>Implemented the network in TensorFlow/</a:t>
              </a:r>
              <a:r>
                <a:rPr lang="en-US" b="1" err="1">
                  <a:solidFill>
                    <a:srgbClr val="202A41"/>
                  </a:solidFill>
                </a:rPr>
                <a:t>Keras</a:t>
              </a:r>
              <a:endParaRPr lang="en-US"/>
            </a:p>
          </p:txBody>
        </p:sp>
        <p:sp>
          <p:nvSpPr>
            <p:cNvPr id="55" name="Text 10">
              <a:extLst>
                <a:ext uri="{FF2B5EF4-FFF2-40B4-BE49-F238E27FC236}">
                  <a16:creationId xmlns:a16="http://schemas.microsoft.com/office/drawing/2014/main" id="{91FEBA1B-D089-1123-4DB3-A8DA1775410B}"/>
                </a:ext>
              </a:extLst>
            </p:cNvPr>
            <p:cNvSpPr/>
            <p:nvPr/>
          </p:nvSpPr>
          <p:spPr>
            <a:xfrm>
              <a:off x="6894576" y="1659275"/>
              <a:ext cx="4059936" cy="4572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r>
                <a:rPr lang="en-US" sz="1600"/>
                <a:t>Modified ResNet50 for ASL classification</a:t>
              </a:r>
            </a:p>
          </p:txBody>
        </p:sp>
        <p:sp>
          <p:nvSpPr>
            <p:cNvPr id="56" name="Shape 11">
              <a:extLst>
                <a:ext uri="{FF2B5EF4-FFF2-40B4-BE49-F238E27FC236}">
                  <a16:creationId xmlns:a16="http://schemas.microsoft.com/office/drawing/2014/main" id="{156A38B1-3065-2832-5370-0CF6FAB9A3F9}"/>
                </a:ext>
              </a:extLst>
            </p:cNvPr>
            <p:cNvSpPr/>
            <p:nvPr/>
          </p:nvSpPr>
          <p:spPr>
            <a:xfrm>
              <a:off x="6629400" y="2514600"/>
              <a:ext cx="4480560" cy="1143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12">
              <a:extLst>
                <a:ext uri="{FF2B5EF4-FFF2-40B4-BE49-F238E27FC236}">
                  <a16:creationId xmlns:a16="http://schemas.microsoft.com/office/drawing/2014/main" id="{C5BFC12F-35A7-CDDD-709E-15D851D58EA0}"/>
                </a:ext>
              </a:extLst>
            </p:cNvPr>
            <p:cNvSpPr/>
            <p:nvPr/>
          </p:nvSpPr>
          <p:spPr>
            <a:xfrm>
              <a:off x="6629400" y="2514600"/>
              <a:ext cx="109728" cy="1143000"/>
            </a:xfrm>
            <a:prstGeom prst="rect">
              <a:avLst/>
            </a:prstGeom>
            <a:solidFill>
              <a:srgbClr val="7FA06B"/>
            </a:solidFill>
            <a:ln w="12700">
              <a:solidFill>
                <a:srgbClr val="7FA0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08E40950-7095-AB78-4168-E1A2751A4991}"/>
                </a:ext>
              </a:extLst>
            </p:cNvPr>
            <p:cNvSpPr/>
            <p:nvPr/>
          </p:nvSpPr>
          <p:spPr>
            <a:xfrm>
              <a:off x="6885432" y="2679192"/>
              <a:ext cx="40599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/>
                <a:t>Phase 1 training</a:t>
              </a:r>
              <a:r>
                <a:rPr lang="en-US"/>
                <a:t>: </a:t>
              </a:r>
            </a:p>
          </p:txBody>
        </p:sp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841B9F8A-F31A-71AF-913C-C4233F540CEF}"/>
                </a:ext>
              </a:extLst>
            </p:cNvPr>
            <p:cNvSpPr/>
            <p:nvPr/>
          </p:nvSpPr>
          <p:spPr>
            <a:xfrm>
              <a:off x="6885432" y="3044952"/>
              <a:ext cx="4059936" cy="4572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r>
                <a:rPr lang="en-US" sz="1600"/>
                <a:t>To allow the model to learn how to map ResNet50 image features to the ASL letters</a:t>
              </a:r>
            </a:p>
          </p:txBody>
        </p:sp>
        <p:sp>
          <p:nvSpPr>
            <p:cNvPr id="60" name="Shape 15">
              <a:extLst>
                <a:ext uri="{FF2B5EF4-FFF2-40B4-BE49-F238E27FC236}">
                  <a16:creationId xmlns:a16="http://schemas.microsoft.com/office/drawing/2014/main" id="{542EACF9-0F65-90EC-CEC9-2341D7CA485A}"/>
                </a:ext>
              </a:extLst>
            </p:cNvPr>
            <p:cNvSpPr/>
            <p:nvPr/>
          </p:nvSpPr>
          <p:spPr>
            <a:xfrm>
              <a:off x="6629400" y="3977640"/>
              <a:ext cx="4480560" cy="1143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16">
              <a:extLst>
                <a:ext uri="{FF2B5EF4-FFF2-40B4-BE49-F238E27FC236}">
                  <a16:creationId xmlns:a16="http://schemas.microsoft.com/office/drawing/2014/main" id="{FA168658-5E6E-E21F-4C72-2B7CC3AF6F6F}"/>
                </a:ext>
              </a:extLst>
            </p:cNvPr>
            <p:cNvSpPr/>
            <p:nvPr/>
          </p:nvSpPr>
          <p:spPr>
            <a:xfrm>
              <a:off x="6629400" y="3977640"/>
              <a:ext cx="109728" cy="1143000"/>
            </a:xfrm>
            <a:prstGeom prst="rect">
              <a:avLst/>
            </a:prstGeom>
            <a:solidFill>
              <a:srgbClr val="B9955B"/>
            </a:solidFill>
            <a:ln w="12700">
              <a:solidFill>
                <a:srgbClr val="B9955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17">
              <a:extLst>
                <a:ext uri="{FF2B5EF4-FFF2-40B4-BE49-F238E27FC236}">
                  <a16:creationId xmlns:a16="http://schemas.microsoft.com/office/drawing/2014/main" id="{FC185A13-831D-E199-933E-269363FA64AD}"/>
                </a:ext>
              </a:extLst>
            </p:cNvPr>
            <p:cNvSpPr/>
            <p:nvPr/>
          </p:nvSpPr>
          <p:spPr>
            <a:xfrm>
              <a:off x="6885432" y="4142232"/>
              <a:ext cx="40599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/>
                <a:t>Phase 2 fine-tuning</a:t>
              </a:r>
              <a:r>
                <a:rPr lang="en-US"/>
                <a:t>:</a:t>
              </a:r>
            </a:p>
          </p:txBody>
        </p:sp>
        <p:sp>
          <p:nvSpPr>
            <p:cNvPr id="63" name="Text 18">
              <a:extLst>
                <a:ext uri="{FF2B5EF4-FFF2-40B4-BE49-F238E27FC236}">
                  <a16:creationId xmlns:a16="http://schemas.microsoft.com/office/drawing/2014/main" id="{F32F9DD5-AF2D-EB10-1727-857C903512A0}"/>
                </a:ext>
              </a:extLst>
            </p:cNvPr>
            <p:cNvSpPr/>
            <p:nvPr/>
          </p:nvSpPr>
          <p:spPr>
            <a:xfrm>
              <a:off x="6885432" y="4507992"/>
              <a:ext cx="4059936" cy="45720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r>
                <a:rPr lang="en-US" sz="1600"/>
                <a:t>To allow the later layers to adjust to the ASL dataset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CBEBF-8AA3-1AC6-8223-891AC9A0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9C7FF6-6665-0559-EE4B-BEA6B3FB5BA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EA2B18-4C9A-A69C-0AB1-A94B1017487F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3F9543-DEA0-A02C-AAE2-C511A471D761}"/>
              </a:ext>
            </a:extLst>
          </p:cNvPr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C64E1F-7EFA-701F-E653-B83F3DB61438}"/>
              </a:ext>
            </a:extLst>
          </p:cNvPr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2988D1-4A01-E304-065F-32953192E5CB}"/>
              </a:ext>
            </a:extLst>
          </p:cNvPr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Resnet50 Evaluation</a:t>
            </a:r>
            <a:endParaRPr lang="en-US"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D9A922-F877-8266-B94D-61A24BDE6EE5}"/>
              </a:ext>
            </a:extLst>
          </p:cNvPr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C5F26B-8D01-2CE1-A0E7-368295966D97}"/>
              </a:ext>
            </a:extLst>
          </p:cNvPr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METRICS</a:t>
            </a:r>
            <a:endParaRPr lang="en-US" sz="78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0DC0208-79A9-0E96-74F9-4328E60FE3F0}"/>
              </a:ext>
            </a:extLst>
          </p:cNvPr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C15D85E-2D81-19A7-C24E-D0DB264BFADE}"/>
              </a:ext>
            </a:extLst>
          </p:cNvPr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09</a:t>
            </a:r>
            <a:endParaRPr lang="en-US" sz="9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BFA8569-75FC-DE65-C561-FE1C7732239E}"/>
              </a:ext>
            </a:extLst>
          </p:cNvPr>
          <p:cNvSpPr/>
          <p:nvPr/>
        </p:nvSpPr>
        <p:spPr>
          <a:xfrm>
            <a:off x="960120" y="101840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Phase 1 — frozen base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Image 0" descr="/mnt/data/training_curves_phase1.png">
            <a:extLst>
              <a:ext uri="{FF2B5EF4-FFF2-40B4-BE49-F238E27FC236}">
                <a16:creationId xmlns:a16="http://schemas.microsoft.com/office/drawing/2014/main" id="{31DFB8A3-04C3-A594-66E1-A96E59E9D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1" y="1299239"/>
            <a:ext cx="7466330" cy="2418260"/>
          </a:xfrm>
          <a:prstGeom prst="rect">
            <a:avLst/>
          </a:prstGeom>
        </p:spPr>
      </p:pic>
      <p:sp>
        <p:nvSpPr>
          <p:cNvPr id="43" name="Text 6">
            <a:extLst>
              <a:ext uri="{FF2B5EF4-FFF2-40B4-BE49-F238E27FC236}">
                <a16:creationId xmlns:a16="http://schemas.microsoft.com/office/drawing/2014/main" id="{6A976E6B-864F-DBBE-F9D2-D1ED852D0DB4}"/>
              </a:ext>
            </a:extLst>
          </p:cNvPr>
          <p:cNvSpPr/>
          <p:nvPr/>
        </p:nvSpPr>
        <p:spPr>
          <a:xfrm>
            <a:off x="960120" y="3897916"/>
            <a:ext cx="4093314" cy="16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Phase 2 — fine-tuning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4" name="Image 1" descr="/mnt/data/training_curves_phase2.png">
            <a:extLst>
              <a:ext uri="{FF2B5EF4-FFF2-40B4-BE49-F238E27FC236}">
                <a16:creationId xmlns:a16="http://schemas.microsoft.com/office/drawing/2014/main" id="{D1813B94-4443-C210-4DEE-54721D729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1" y="4215743"/>
            <a:ext cx="7466330" cy="2310242"/>
          </a:xfrm>
          <a:prstGeom prst="rect">
            <a:avLst/>
          </a:prstGeom>
        </p:spPr>
      </p:pic>
      <p:grpSp>
        <p:nvGrpSpPr>
          <p:cNvPr id="96" name="Group 95">
            <a:extLst>
              <a:ext uri="{FF2B5EF4-FFF2-40B4-BE49-F238E27FC236}">
                <a16:creationId xmlns:a16="http://schemas.microsoft.com/office/drawing/2014/main" id="{4E9CF563-FBCF-23E6-0D23-0DA0BB32B918}"/>
              </a:ext>
            </a:extLst>
          </p:cNvPr>
          <p:cNvGrpSpPr/>
          <p:nvPr/>
        </p:nvGrpSpPr>
        <p:grpSpPr>
          <a:xfrm>
            <a:off x="8310238" y="2058555"/>
            <a:ext cx="3595492" cy="1778684"/>
            <a:chOff x="2351188" y="4826001"/>
            <a:chExt cx="6030431" cy="1341627"/>
          </a:xfrm>
        </p:grpSpPr>
        <p:sp>
          <p:nvSpPr>
            <p:cNvPr id="97" name="Shape 7">
              <a:extLst>
                <a:ext uri="{FF2B5EF4-FFF2-40B4-BE49-F238E27FC236}">
                  <a16:creationId xmlns:a16="http://schemas.microsoft.com/office/drawing/2014/main" id="{9789B096-CD24-7719-7140-AA9CA4E40C53}"/>
                </a:ext>
              </a:extLst>
            </p:cNvPr>
            <p:cNvSpPr/>
            <p:nvPr/>
          </p:nvSpPr>
          <p:spPr>
            <a:xfrm>
              <a:off x="2351188" y="4826001"/>
              <a:ext cx="6030431" cy="549328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98" name="Text 8">
              <a:extLst>
                <a:ext uri="{FF2B5EF4-FFF2-40B4-BE49-F238E27FC236}">
                  <a16:creationId xmlns:a16="http://schemas.microsoft.com/office/drawing/2014/main" id="{0A2EF1C9-EFCD-5902-865A-B1B49A37434F}"/>
                </a:ext>
              </a:extLst>
            </p:cNvPr>
            <p:cNvSpPr/>
            <p:nvPr/>
          </p:nvSpPr>
          <p:spPr>
            <a:xfrm>
              <a:off x="2495111" y="4924564"/>
              <a:ext cx="1600454" cy="295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</a:rPr>
                <a:t>Training phase</a:t>
              </a:r>
              <a:endParaRPr lang="en-US" sz="1400"/>
            </a:p>
          </p:txBody>
        </p:sp>
        <p:sp>
          <p:nvSpPr>
            <p:cNvPr id="99" name="Shape 10">
              <a:extLst>
                <a:ext uri="{FF2B5EF4-FFF2-40B4-BE49-F238E27FC236}">
                  <a16:creationId xmlns:a16="http://schemas.microsoft.com/office/drawing/2014/main" id="{A0041A01-D61A-C0A1-1791-099EFC652913}"/>
                </a:ext>
              </a:extLst>
            </p:cNvPr>
            <p:cNvSpPr/>
            <p:nvPr/>
          </p:nvSpPr>
          <p:spPr>
            <a:xfrm>
              <a:off x="2353893" y="4826001"/>
              <a:ext cx="0" cy="1341627"/>
            </a:xfrm>
            <a:prstGeom prst="line">
              <a:avLst/>
            </a:prstGeom>
            <a:noFill/>
            <a:ln w="762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0" name="Text 11">
              <a:extLst>
                <a:ext uri="{FF2B5EF4-FFF2-40B4-BE49-F238E27FC236}">
                  <a16:creationId xmlns:a16="http://schemas.microsoft.com/office/drawing/2014/main" id="{44E6DB91-869C-D8CC-C85B-9D3CC96E4AB6}"/>
                </a:ext>
              </a:extLst>
            </p:cNvPr>
            <p:cNvSpPr/>
            <p:nvPr/>
          </p:nvSpPr>
          <p:spPr>
            <a:xfrm>
              <a:off x="4474630" y="4920221"/>
              <a:ext cx="1788742" cy="2535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</a:rPr>
                <a:t>Final val. accuracy</a:t>
              </a:r>
              <a:endParaRPr lang="en-US" sz="1400"/>
            </a:p>
          </p:txBody>
        </p:sp>
        <p:sp>
          <p:nvSpPr>
            <p:cNvPr id="101" name="Shape 12">
              <a:extLst>
                <a:ext uri="{FF2B5EF4-FFF2-40B4-BE49-F238E27FC236}">
                  <a16:creationId xmlns:a16="http://schemas.microsoft.com/office/drawing/2014/main" id="{D15D05A0-58A3-183E-8A4A-D2FD2A5136C2}"/>
                </a:ext>
              </a:extLst>
            </p:cNvPr>
            <p:cNvSpPr/>
            <p:nvPr/>
          </p:nvSpPr>
          <p:spPr>
            <a:xfrm>
              <a:off x="4217861" y="4826001"/>
              <a:ext cx="0" cy="1341627"/>
            </a:xfrm>
            <a:prstGeom prst="line">
              <a:avLst/>
            </a:prstGeom>
            <a:noFill/>
            <a:ln w="762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2" name="Text 13">
              <a:extLst>
                <a:ext uri="{FF2B5EF4-FFF2-40B4-BE49-F238E27FC236}">
                  <a16:creationId xmlns:a16="http://schemas.microsoft.com/office/drawing/2014/main" id="{AD8FE38A-5EE4-F6BB-CA02-B9F0407B66ED}"/>
                </a:ext>
              </a:extLst>
            </p:cNvPr>
            <p:cNvSpPr/>
            <p:nvPr/>
          </p:nvSpPr>
          <p:spPr>
            <a:xfrm>
              <a:off x="6731605" y="4931641"/>
              <a:ext cx="1270949" cy="295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</a:rPr>
                <a:t>Final val. loss</a:t>
              </a:r>
              <a:endParaRPr lang="en-US" sz="1400"/>
            </a:p>
          </p:txBody>
        </p:sp>
        <p:sp>
          <p:nvSpPr>
            <p:cNvPr id="103" name="Shape 14">
              <a:extLst>
                <a:ext uri="{FF2B5EF4-FFF2-40B4-BE49-F238E27FC236}">
                  <a16:creationId xmlns:a16="http://schemas.microsoft.com/office/drawing/2014/main" id="{031386A0-39A6-3709-FFF3-8803332CE0A5}"/>
                </a:ext>
              </a:extLst>
            </p:cNvPr>
            <p:cNvSpPr/>
            <p:nvPr/>
          </p:nvSpPr>
          <p:spPr>
            <a:xfrm>
              <a:off x="6445305" y="4826001"/>
              <a:ext cx="0" cy="1341627"/>
            </a:xfrm>
            <a:prstGeom prst="line">
              <a:avLst/>
            </a:prstGeom>
            <a:noFill/>
            <a:ln w="762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4" name="Shape 16">
              <a:extLst>
                <a:ext uri="{FF2B5EF4-FFF2-40B4-BE49-F238E27FC236}">
                  <a16:creationId xmlns:a16="http://schemas.microsoft.com/office/drawing/2014/main" id="{F51FFD29-8867-58BB-DEC1-8D8C68655DE9}"/>
                </a:ext>
              </a:extLst>
            </p:cNvPr>
            <p:cNvSpPr/>
            <p:nvPr/>
          </p:nvSpPr>
          <p:spPr>
            <a:xfrm>
              <a:off x="8381619" y="4826001"/>
              <a:ext cx="0" cy="1341627"/>
            </a:xfrm>
            <a:prstGeom prst="line">
              <a:avLst/>
            </a:prstGeom>
            <a:noFill/>
            <a:ln w="762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5" name="Shape 17">
              <a:extLst>
                <a:ext uri="{FF2B5EF4-FFF2-40B4-BE49-F238E27FC236}">
                  <a16:creationId xmlns:a16="http://schemas.microsoft.com/office/drawing/2014/main" id="{742C6583-37C1-3DC0-64D4-FAFE47A2CCD0}"/>
                </a:ext>
              </a:extLst>
            </p:cNvPr>
            <p:cNvSpPr/>
            <p:nvPr/>
          </p:nvSpPr>
          <p:spPr>
            <a:xfrm>
              <a:off x="2353892" y="5280253"/>
              <a:ext cx="6027727" cy="443688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06" name="Text 18">
              <a:extLst>
                <a:ext uri="{FF2B5EF4-FFF2-40B4-BE49-F238E27FC236}">
                  <a16:creationId xmlns:a16="http://schemas.microsoft.com/office/drawing/2014/main" id="{290BE422-A893-96B8-7651-0D6A67BA0A22}"/>
                </a:ext>
              </a:extLst>
            </p:cNvPr>
            <p:cNvSpPr/>
            <p:nvPr/>
          </p:nvSpPr>
          <p:spPr>
            <a:xfrm>
              <a:off x="2448037" y="5334856"/>
              <a:ext cx="1600454" cy="316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111827"/>
                  </a:solidFill>
                </a:rPr>
                <a:t>Phase 1</a:t>
              </a:r>
              <a:endParaRPr lang="en-US" sz="1400"/>
            </a:p>
          </p:txBody>
        </p:sp>
        <p:sp>
          <p:nvSpPr>
            <p:cNvPr id="107" name="Text 20">
              <a:extLst>
                <a:ext uri="{FF2B5EF4-FFF2-40B4-BE49-F238E27FC236}">
                  <a16:creationId xmlns:a16="http://schemas.microsoft.com/office/drawing/2014/main" id="{D60C04DE-60A0-AE68-6CDC-A26E96C332C1}"/>
                </a:ext>
              </a:extLst>
            </p:cNvPr>
            <p:cNvSpPr/>
            <p:nvPr/>
          </p:nvSpPr>
          <p:spPr>
            <a:xfrm>
              <a:off x="4338721" y="5325758"/>
              <a:ext cx="1694598" cy="316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111827"/>
                  </a:solidFill>
                </a:rPr>
                <a:t>99.42%</a:t>
              </a:r>
              <a:endParaRPr lang="en-US" sz="1400"/>
            </a:p>
          </p:txBody>
        </p:sp>
        <p:sp>
          <p:nvSpPr>
            <p:cNvPr id="108" name="Text 21">
              <a:extLst>
                <a:ext uri="{FF2B5EF4-FFF2-40B4-BE49-F238E27FC236}">
                  <a16:creationId xmlns:a16="http://schemas.microsoft.com/office/drawing/2014/main" id="{0898C94A-46E5-670B-D6DE-3524738A4F74}"/>
                </a:ext>
              </a:extLst>
            </p:cNvPr>
            <p:cNvSpPr/>
            <p:nvPr/>
          </p:nvSpPr>
          <p:spPr>
            <a:xfrm>
              <a:off x="6723603" y="5330936"/>
              <a:ext cx="1270949" cy="316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111827"/>
                  </a:solidFill>
                </a:rPr>
                <a:t>0.0173</a:t>
              </a:r>
              <a:endParaRPr lang="en-US" sz="1400"/>
            </a:p>
          </p:txBody>
        </p:sp>
        <p:sp>
          <p:nvSpPr>
            <p:cNvPr id="109" name="Shape 23">
              <a:extLst>
                <a:ext uri="{FF2B5EF4-FFF2-40B4-BE49-F238E27FC236}">
                  <a16:creationId xmlns:a16="http://schemas.microsoft.com/office/drawing/2014/main" id="{1DB0FBC5-2437-CE4F-0941-AF969D0E8C39}"/>
                </a:ext>
              </a:extLst>
            </p:cNvPr>
            <p:cNvSpPr/>
            <p:nvPr/>
          </p:nvSpPr>
          <p:spPr>
            <a:xfrm>
              <a:off x="2353892" y="5723940"/>
              <a:ext cx="6027727" cy="443688"/>
            </a:xfrm>
            <a:prstGeom prst="rect">
              <a:avLst/>
            </a:prstGeom>
            <a:solidFill>
              <a:srgbClr val="F8FAFC"/>
            </a:solidFill>
            <a:ln w="762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 sz="3200"/>
            </a:p>
          </p:txBody>
        </p:sp>
        <p:sp>
          <p:nvSpPr>
            <p:cNvPr id="110" name="Text 24">
              <a:extLst>
                <a:ext uri="{FF2B5EF4-FFF2-40B4-BE49-F238E27FC236}">
                  <a16:creationId xmlns:a16="http://schemas.microsoft.com/office/drawing/2014/main" id="{8C8D5D64-AF05-27DF-0AF1-DDB0E232F965}"/>
                </a:ext>
              </a:extLst>
            </p:cNvPr>
            <p:cNvSpPr/>
            <p:nvPr/>
          </p:nvSpPr>
          <p:spPr>
            <a:xfrm>
              <a:off x="2424502" y="5711673"/>
              <a:ext cx="1600454" cy="316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111827"/>
                  </a:solidFill>
                </a:rPr>
                <a:t>Phase 2</a:t>
              </a:r>
              <a:endParaRPr lang="en-US" sz="1400"/>
            </a:p>
          </p:txBody>
        </p:sp>
        <p:sp>
          <p:nvSpPr>
            <p:cNvPr id="111" name="Text 26">
              <a:extLst>
                <a:ext uri="{FF2B5EF4-FFF2-40B4-BE49-F238E27FC236}">
                  <a16:creationId xmlns:a16="http://schemas.microsoft.com/office/drawing/2014/main" id="{FE007E4A-CEAF-8808-3E65-C814D11B5321}"/>
                </a:ext>
              </a:extLst>
            </p:cNvPr>
            <p:cNvSpPr/>
            <p:nvPr/>
          </p:nvSpPr>
          <p:spPr>
            <a:xfrm>
              <a:off x="4311255" y="5744869"/>
              <a:ext cx="1694598" cy="316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111827"/>
                  </a:solidFill>
                </a:rPr>
                <a:t>99.96%</a:t>
              </a:r>
              <a:endParaRPr lang="en-US" sz="1400"/>
            </a:p>
          </p:txBody>
        </p:sp>
        <p:sp>
          <p:nvSpPr>
            <p:cNvPr id="112" name="Text 27">
              <a:extLst>
                <a:ext uri="{FF2B5EF4-FFF2-40B4-BE49-F238E27FC236}">
                  <a16:creationId xmlns:a16="http://schemas.microsoft.com/office/drawing/2014/main" id="{24D3E304-09B7-AB6F-E2A1-F2BB73569C44}"/>
                </a:ext>
              </a:extLst>
            </p:cNvPr>
            <p:cNvSpPr/>
            <p:nvPr/>
          </p:nvSpPr>
          <p:spPr>
            <a:xfrm>
              <a:off x="6731605" y="5769076"/>
              <a:ext cx="1270949" cy="316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111827"/>
                  </a:solidFill>
                </a:rPr>
                <a:t>0.0018</a:t>
              </a:r>
              <a:endParaRPr lang="en-US" sz="140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A1967A6-0BE6-F592-33D6-1E1689AF17C0}"/>
              </a:ext>
            </a:extLst>
          </p:cNvPr>
          <p:cNvGrpSpPr/>
          <p:nvPr/>
        </p:nvGrpSpPr>
        <p:grpSpPr>
          <a:xfrm>
            <a:off x="8667804" y="4284951"/>
            <a:ext cx="2880360" cy="1275289"/>
            <a:chOff x="411480" y="1645921"/>
            <a:chExt cx="4160520" cy="1677006"/>
          </a:xfrm>
        </p:grpSpPr>
        <p:sp>
          <p:nvSpPr>
            <p:cNvPr id="113" name="Shape 7">
              <a:extLst>
                <a:ext uri="{FF2B5EF4-FFF2-40B4-BE49-F238E27FC236}">
                  <a16:creationId xmlns:a16="http://schemas.microsoft.com/office/drawing/2014/main" id="{C6336BDF-3948-1B87-CDCE-A3EED53FEFE6}"/>
                </a:ext>
              </a:extLst>
            </p:cNvPr>
            <p:cNvSpPr/>
            <p:nvPr/>
          </p:nvSpPr>
          <p:spPr>
            <a:xfrm>
              <a:off x="411480" y="1645921"/>
              <a:ext cx="4160520" cy="1677006"/>
            </a:xfrm>
            <a:prstGeom prst="roundRect">
              <a:avLst>
                <a:gd name="adj" fmla="val 3297"/>
              </a:avLst>
            </a:prstGeom>
            <a:solidFill>
              <a:schemeClr val="tx2">
                <a:lumMod val="75000"/>
              </a:schemeClr>
            </a:solidFill>
            <a:ln w="12700">
              <a:solidFill>
                <a:srgbClr val="0B1F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Text 8">
              <a:extLst>
                <a:ext uri="{FF2B5EF4-FFF2-40B4-BE49-F238E27FC236}">
                  <a16:creationId xmlns:a16="http://schemas.microsoft.com/office/drawing/2014/main" id="{FA245D95-59A6-656E-6A3B-64F49E22D82B}"/>
                </a:ext>
              </a:extLst>
            </p:cNvPr>
            <p:cNvSpPr/>
            <p:nvPr/>
          </p:nvSpPr>
          <p:spPr>
            <a:xfrm>
              <a:off x="713232" y="1847088"/>
              <a:ext cx="3566160" cy="2005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50" b="1">
                  <a:solidFill>
                    <a:srgbClr val="C8D8FF"/>
                  </a:solidFill>
                </a:rPr>
                <a:t>Overall accuracy</a:t>
              </a:r>
              <a:endParaRPr lang="en-US" sz="1450"/>
            </a:p>
          </p:txBody>
        </p:sp>
        <p:sp>
          <p:nvSpPr>
            <p:cNvPr id="115" name="Text 9">
              <a:extLst>
                <a:ext uri="{FF2B5EF4-FFF2-40B4-BE49-F238E27FC236}">
                  <a16:creationId xmlns:a16="http://schemas.microsoft.com/office/drawing/2014/main" id="{FFC2D092-A50E-1180-D2A5-FE1CC6D56744}"/>
                </a:ext>
              </a:extLst>
            </p:cNvPr>
            <p:cNvSpPr/>
            <p:nvPr/>
          </p:nvSpPr>
          <p:spPr>
            <a:xfrm>
              <a:off x="530352" y="2185416"/>
              <a:ext cx="3931920" cy="5729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FFFFFF"/>
                  </a:solidFill>
                </a:rPr>
                <a:t>99.99%</a:t>
              </a:r>
              <a:endParaRPr lang="en-US" sz="2400"/>
            </a:p>
          </p:txBody>
        </p:sp>
        <p:sp>
          <p:nvSpPr>
            <p:cNvPr id="116" name="Text 11">
              <a:extLst>
                <a:ext uri="{FF2B5EF4-FFF2-40B4-BE49-F238E27FC236}">
                  <a16:creationId xmlns:a16="http://schemas.microsoft.com/office/drawing/2014/main" id="{86C70A0A-A01C-F110-C6D6-07099BB649D5}"/>
                </a:ext>
              </a:extLst>
            </p:cNvPr>
            <p:cNvSpPr/>
            <p:nvPr/>
          </p:nvSpPr>
          <p:spPr>
            <a:xfrm>
              <a:off x="861562" y="2887124"/>
              <a:ext cx="3337560" cy="1718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>
                  <a:solidFill>
                    <a:srgbClr val="FFFFFF"/>
                  </a:solidFill>
                </a:rPr>
                <a:t>Test loss: 0.0003</a:t>
              </a:r>
              <a:endParaRPr lang="en-US" sz="1500"/>
            </a:p>
          </p:txBody>
        </p:sp>
      </p:grpSp>
    </p:spTree>
    <p:extLst>
      <p:ext uri="{BB962C8B-B14F-4D97-AF65-F5344CB8AC3E}">
        <p14:creationId xmlns:p14="http://schemas.microsoft.com/office/powerpoint/2010/main" val="288622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5E1CE-8A13-9BFE-78A4-9AA909A2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47ECB3-9F20-0248-4786-9D95DA180C5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C1F15C-8668-B88C-A6F0-965DF9EFF8FD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E6DD33-190E-81F9-4A1C-E0B1CECD9ADA}"/>
              </a:ext>
            </a:extLst>
          </p:cNvPr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58A0038-C195-7F69-8830-06A1D862FAA7}"/>
              </a:ext>
            </a:extLst>
          </p:cNvPr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F8F368-9AAC-F303-2541-4E16DA9D6739}"/>
              </a:ext>
            </a:extLst>
          </p:cNvPr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Resnet50 Evaluation</a:t>
            </a:r>
            <a:endParaRPr lang="en-US"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2486C6-87ED-F85A-9CA3-2274D113D68D}"/>
              </a:ext>
            </a:extLst>
          </p:cNvPr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EE4880-407B-8A53-9816-BF82F1834211}"/>
              </a:ext>
            </a:extLst>
          </p:cNvPr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ERROR ANALYSIS</a:t>
            </a:r>
            <a:endParaRPr lang="en-US" sz="78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8C72113-A2CD-CB31-5397-10164C200C46}"/>
              </a:ext>
            </a:extLst>
          </p:cNvPr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EB7E10B-8904-2C76-B0B2-4205C3C4CF1B}"/>
              </a:ext>
            </a:extLst>
          </p:cNvPr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09</a:t>
            </a:r>
            <a:endParaRPr lang="en-US" sz="90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1B8D640-A575-9130-C2C9-108BB65D92B7}"/>
              </a:ext>
            </a:extLst>
          </p:cNvPr>
          <p:cNvSpPr/>
          <p:nvPr/>
        </p:nvSpPr>
        <p:spPr>
          <a:xfrm>
            <a:off x="1358900" y="17277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 pattern</a:t>
            </a:r>
            <a:endParaRPr lang="en-US" sz="1800"/>
          </a:p>
        </p:txBody>
      </p:sp>
      <p:pic>
        <p:nvPicPr>
          <p:cNvPr id="10" name="Image 0" descr="/mnt/data/resnet50_assets/confusion_diagonal_visual.png">
            <a:extLst>
              <a:ext uri="{FF2B5EF4-FFF2-40B4-BE49-F238E27FC236}">
                <a16:creationId xmlns:a16="http://schemas.microsoft.com/office/drawing/2014/main" id="{CE27CEE5-93B1-67E9-05E4-CA5BB47D8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798" y="2038534"/>
            <a:ext cx="3429000" cy="34290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4FA427A2-3F18-25FF-033F-ADACD312743E}"/>
              </a:ext>
            </a:extLst>
          </p:cNvPr>
          <p:cNvSpPr/>
          <p:nvPr/>
        </p:nvSpPr>
        <p:spPr>
          <a:xfrm>
            <a:off x="1158087" y="110845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36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visible class confusion: all 26 letters have perfect per-class scores.</a:t>
            </a:r>
            <a:endParaRPr lang="en-US" sz="200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EDFB90F9-A4EA-F073-B7E1-EC283098B28A}"/>
              </a:ext>
            </a:extLst>
          </p:cNvPr>
          <p:cNvSpPr/>
          <p:nvPr/>
        </p:nvSpPr>
        <p:spPr>
          <a:xfrm>
            <a:off x="1358900" y="56852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>
                <a:solidFill>
                  <a:srgbClr val="536B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diagonal cells are filled: each letter was predicted as itself.</a:t>
            </a:r>
            <a:endParaRPr lang="en-US" sz="16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ECFDAA3-4F2B-E111-BC8E-0EE479CEE422}"/>
              </a:ext>
            </a:extLst>
          </p:cNvPr>
          <p:cNvGrpSpPr/>
          <p:nvPr/>
        </p:nvGrpSpPr>
        <p:grpSpPr>
          <a:xfrm>
            <a:off x="5779008" y="3877055"/>
            <a:ext cx="4825492" cy="1595627"/>
            <a:chOff x="5669280" y="4160520"/>
            <a:chExt cx="4480560" cy="1417320"/>
          </a:xfrm>
        </p:grpSpPr>
        <p:sp>
          <p:nvSpPr>
            <p:cNvPr id="52" name="Shape 13">
              <a:extLst>
                <a:ext uri="{FF2B5EF4-FFF2-40B4-BE49-F238E27FC236}">
                  <a16:creationId xmlns:a16="http://schemas.microsoft.com/office/drawing/2014/main" id="{40148240-045E-EF00-3CD6-5D6D86872571}"/>
                </a:ext>
              </a:extLst>
            </p:cNvPr>
            <p:cNvSpPr/>
            <p:nvPr/>
          </p:nvSpPr>
          <p:spPr>
            <a:xfrm>
              <a:off x="5669280" y="4160520"/>
              <a:ext cx="4480560" cy="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Shape 14">
              <a:extLst>
                <a:ext uri="{FF2B5EF4-FFF2-40B4-BE49-F238E27FC236}">
                  <a16:creationId xmlns:a16="http://schemas.microsoft.com/office/drawing/2014/main" id="{24362F7E-7D1E-545F-B455-AE9EAD2D151D}"/>
                </a:ext>
              </a:extLst>
            </p:cNvPr>
            <p:cNvSpPr/>
            <p:nvPr/>
          </p:nvSpPr>
          <p:spPr>
            <a:xfrm>
              <a:off x="5669280" y="4443984"/>
              <a:ext cx="4480560" cy="0"/>
            </a:xfrm>
            <a:prstGeom prst="line">
              <a:avLst/>
            </a:prstGeom>
            <a:noFill/>
            <a:ln w="1778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15">
              <a:extLst>
                <a:ext uri="{FF2B5EF4-FFF2-40B4-BE49-F238E27FC236}">
                  <a16:creationId xmlns:a16="http://schemas.microsoft.com/office/drawing/2014/main" id="{00DDE1F6-BE07-663B-D0A7-1258C360C5A7}"/>
                </a:ext>
              </a:extLst>
            </p:cNvPr>
            <p:cNvSpPr/>
            <p:nvPr/>
          </p:nvSpPr>
          <p:spPr>
            <a:xfrm>
              <a:off x="5669280" y="4727448"/>
              <a:ext cx="4480560" cy="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Shape 16">
              <a:extLst>
                <a:ext uri="{FF2B5EF4-FFF2-40B4-BE49-F238E27FC236}">
                  <a16:creationId xmlns:a16="http://schemas.microsoft.com/office/drawing/2014/main" id="{58B6F2CC-EDA7-1DD3-F8C1-CADF6C4FB721}"/>
                </a:ext>
              </a:extLst>
            </p:cNvPr>
            <p:cNvSpPr/>
            <p:nvPr/>
          </p:nvSpPr>
          <p:spPr>
            <a:xfrm>
              <a:off x="5669280" y="5010912"/>
              <a:ext cx="4480560" cy="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9184EDFA-6D01-7E54-E1AE-4B0E9CF28F48}"/>
                </a:ext>
              </a:extLst>
            </p:cNvPr>
            <p:cNvSpPr/>
            <p:nvPr/>
          </p:nvSpPr>
          <p:spPr>
            <a:xfrm>
              <a:off x="5669280" y="5294376"/>
              <a:ext cx="4480560" cy="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Shape 18">
              <a:extLst>
                <a:ext uri="{FF2B5EF4-FFF2-40B4-BE49-F238E27FC236}">
                  <a16:creationId xmlns:a16="http://schemas.microsoft.com/office/drawing/2014/main" id="{6570FA10-C5F1-ADBB-D16A-93EF9C94F5C8}"/>
                </a:ext>
              </a:extLst>
            </p:cNvPr>
            <p:cNvSpPr/>
            <p:nvPr/>
          </p:nvSpPr>
          <p:spPr>
            <a:xfrm>
              <a:off x="5669280" y="5577840"/>
              <a:ext cx="4480560" cy="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19">
              <a:extLst>
                <a:ext uri="{FF2B5EF4-FFF2-40B4-BE49-F238E27FC236}">
                  <a16:creationId xmlns:a16="http://schemas.microsoft.com/office/drawing/2014/main" id="{674F2D49-54BE-BFEF-6352-9D3CD28F2182}"/>
                </a:ext>
              </a:extLst>
            </p:cNvPr>
            <p:cNvSpPr/>
            <p:nvPr/>
          </p:nvSpPr>
          <p:spPr>
            <a:xfrm>
              <a:off x="5669280" y="4160520"/>
              <a:ext cx="0" cy="141732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20">
              <a:extLst>
                <a:ext uri="{FF2B5EF4-FFF2-40B4-BE49-F238E27FC236}">
                  <a16:creationId xmlns:a16="http://schemas.microsoft.com/office/drawing/2014/main" id="{B9B04358-17ED-A87A-1663-7B9EBFFDEE0A}"/>
                </a:ext>
              </a:extLst>
            </p:cNvPr>
            <p:cNvSpPr/>
            <p:nvPr/>
          </p:nvSpPr>
          <p:spPr>
            <a:xfrm>
              <a:off x="8092440" y="4160520"/>
              <a:ext cx="0" cy="141732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Shape 21">
              <a:extLst>
                <a:ext uri="{FF2B5EF4-FFF2-40B4-BE49-F238E27FC236}">
                  <a16:creationId xmlns:a16="http://schemas.microsoft.com/office/drawing/2014/main" id="{958CBD71-73D9-72B1-42B1-80C28217F56C}"/>
                </a:ext>
              </a:extLst>
            </p:cNvPr>
            <p:cNvSpPr/>
            <p:nvPr/>
          </p:nvSpPr>
          <p:spPr>
            <a:xfrm>
              <a:off x="10149840" y="4160520"/>
              <a:ext cx="0" cy="1417320"/>
            </a:xfrm>
            <a:prstGeom prst="line">
              <a:avLst/>
            </a:prstGeom>
            <a:noFill/>
            <a:ln w="10160">
              <a:solidFill>
                <a:srgbClr val="D7E6F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F7FE5AD8-FF0B-B26B-BB66-191A4F917B03}"/>
                </a:ext>
              </a:extLst>
            </p:cNvPr>
            <p:cNvSpPr/>
            <p:nvPr/>
          </p:nvSpPr>
          <p:spPr>
            <a:xfrm>
              <a:off x="5742432" y="4229100"/>
              <a:ext cx="227685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600" b="1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Check</a:t>
              </a:r>
              <a:endParaRPr lang="en-US" sz="1600"/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D4E4668C-2A64-0049-B3EA-752CDC5C0BDD}"/>
                </a:ext>
              </a:extLst>
            </p:cNvPr>
            <p:cNvSpPr/>
            <p:nvPr/>
          </p:nvSpPr>
          <p:spPr>
            <a:xfrm>
              <a:off x="8165592" y="4229100"/>
              <a:ext cx="191109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 b="1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Result</a:t>
              </a:r>
              <a:endParaRPr lang="en-US" sz="1600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B7876B60-6DDF-0C84-205A-4D2C9E550F4F}"/>
                </a:ext>
              </a:extLst>
            </p:cNvPr>
            <p:cNvSpPr/>
            <p:nvPr/>
          </p:nvSpPr>
          <p:spPr>
            <a:xfrm>
              <a:off x="5742432" y="4512564"/>
              <a:ext cx="227685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Test images</a:t>
              </a:r>
              <a:endParaRPr lang="en-US" sz="1600"/>
            </a:p>
          </p:txBody>
        </p:sp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1F11272B-1952-D653-12A6-D90DAB38B4DB}"/>
                </a:ext>
              </a:extLst>
            </p:cNvPr>
            <p:cNvSpPr/>
            <p:nvPr/>
          </p:nvSpPr>
          <p:spPr>
            <a:xfrm>
              <a:off x="8165592" y="4512564"/>
              <a:ext cx="191109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2,600</a:t>
              </a:r>
              <a:endParaRPr lang="en-US" sz="1600"/>
            </a:p>
          </p:txBody>
        </p:sp>
        <p:sp>
          <p:nvSpPr>
            <p:cNvPr id="65" name="Text 26">
              <a:extLst>
                <a:ext uri="{FF2B5EF4-FFF2-40B4-BE49-F238E27FC236}">
                  <a16:creationId xmlns:a16="http://schemas.microsoft.com/office/drawing/2014/main" id="{0A1B8EE1-4895-F9E5-59F4-C614F448716C}"/>
                </a:ext>
              </a:extLst>
            </p:cNvPr>
            <p:cNvSpPr/>
            <p:nvPr/>
          </p:nvSpPr>
          <p:spPr>
            <a:xfrm>
              <a:off x="5742432" y="4796028"/>
              <a:ext cx="227685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Support per class</a:t>
              </a:r>
              <a:endParaRPr lang="en-US" sz="1600"/>
            </a:p>
          </p:txBody>
        </p:sp>
        <p:sp>
          <p:nvSpPr>
            <p:cNvPr id="66" name="Text 27">
              <a:extLst>
                <a:ext uri="{FF2B5EF4-FFF2-40B4-BE49-F238E27FC236}">
                  <a16:creationId xmlns:a16="http://schemas.microsoft.com/office/drawing/2014/main" id="{8217D28B-7903-2C54-0C4E-2577B38A0ED6}"/>
                </a:ext>
              </a:extLst>
            </p:cNvPr>
            <p:cNvSpPr/>
            <p:nvPr/>
          </p:nvSpPr>
          <p:spPr>
            <a:xfrm>
              <a:off x="8165592" y="4796028"/>
              <a:ext cx="191109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100</a:t>
              </a:r>
              <a:endParaRPr lang="en-US" sz="1600"/>
            </a:p>
          </p:txBody>
        </p:sp>
        <p:sp>
          <p:nvSpPr>
            <p:cNvPr id="67" name="Text 28">
              <a:extLst>
                <a:ext uri="{FF2B5EF4-FFF2-40B4-BE49-F238E27FC236}">
                  <a16:creationId xmlns:a16="http://schemas.microsoft.com/office/drawing/2014/main" id="{C2E2DE8D-C6DD-8743-47C2-1210D1C9450C}"/>
                </a:ext>
              </a:extLst>
            </p:cNvPr>
            <p:cNvSpPr/>
            <p:nvPr/>
          </p:nvSpPr>
          <p:spPr>
            <a:xfrm>
              <a:off x="5742432" y="5079492"/>
              <a:ext cx="227685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Confused pairs</a:t>
              </a:r>
              <a:endParaRPr lang="en-US" sz="1600"/>
            </a:p>
          </p:txBody>
        </p:sp>
        <p:sp>
          <p:nvSpPr>
            <p:cNvPr id="68" name="Text 29">
              <a:extLst>
                <a:ext uri="{FF2B5EF4-FFF2-40B4-BE49-F238E27FC236}">
                  <a16:creationId xmlns:a16="http://schemas.microsoft.com/office/drawing/2014/main" id="{B175D6EB-00B3-DDEA-AA39-5A695D7DC2B4}"/>
                </a:ext>
              </a:extLst>
            </p:cNvPr>
            <p:cNvSpPr/>
            <p:nvPr/>
          </p:nvSpPr>
          <p:spPr>
            <a:xfrm>
              <a:off x="8165592" y="5079492"/>
              <a:ext cx="191109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None</a:t>
              </a:r>
              <a:endParaRPr lang="en-US" sz="1600"/>
            </a:p>
          </p:txBody>
        </p:sp>
        <p:sp>
          <p:nvSpPr>
            <p:cNvPr id="69" name="Text 30">
              <a:extLst>
                <a:ext uri="{FF2B5EF4-FFF2-40B4-BE49-F238E27FC236}">
                  <a16:creationId xmlns:a16="http://schemas.microsoft.com/office/drawing/2014/main" id="{8D821044-6C41-D150-6D30-6886B6B7B4EC}"/>
                </a:ext>
              </a:extLst>
            </p:cNvPr>
            <p:cNvSpPr/>
            <p:nvPr/>
          </p:nvSpPr>
          <p:spPr>
            <a:xfrm>
              <a:off x="5742432" y="5362956"/>
              <a:ext cx="227685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Per-class F1</a:t>
              </a:r>
              <a:endParaRPr lang="en-US" sz="1600"/>
            </a:p>
          </p:txBody>
        </p:sp>
        <p:sp>
          <p:nvSpPr>
            <p:cNvPr id="70" name="Text 31">
              <a:extLst>
                <a:ext uri="{FF2B5EF4-FFF2-40B4-BE49-F238E27FC236}">
                  <a16:creationId xmlns:a16="http://schemas.microsoft.com/office/drawing/2014/main" id="{F0336063-B7AC-D4DC-7BDF-8AC9DFEB002B}"/>
                </a:ext>
              </a:extLst>
            </p:cNvPr>
            <p:cNvSpPr/>
            <p:nvPr/>
          </p:nvSpPr>
          <p:spPr>
            <a:xfrm>
              <a:off x="8165592" y="5362956"/>
              <a:ext cx="1911096" cy="210312"/>
            </a:xfrm>
            <a:prstGeom prst="rect">
              <a:avLst/>
            </a:prstGeom>
            <a:solidFill>
              <a:schemeClr val="bg1"/>
            </a:solidFill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r">
                <a:buNone/>
              </a:pPr>
              <a:r>
                <a:rPr lang="en-US" sz="1600">
                  <a:solidFill>
                    <a:srgbClr val="1F2A4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1.00 for A–Z</a:t>
              </a:r>
              <a:endParaRPr lang="en-US" sz="1600"/>
            </a:p>
          </p:txBody>
        </p:sp>
      </p:grpSp>
      <p:sp>
        <p:nvSpPr>
          <p:cNvPr id="71" name="Text 11">
            <a:extLst>
              <a:ext uri="{FF2B5EF4-FFF2-40B4-BE49-F238E27FC236}">
                <a16:creationId xmlns:a16="http://schemas.microsoft.com/office/drawing/2014/main" id="{FA44964E-8A51-C20E-E3CD-59FC29AD0416}"/>
              </a:ext>
            </a:extLst>
          </p:cNvPr>
          <p:cNvSpPr/>
          <p:nvPr/>
        </p:nvSpPr>
        <p:spPr>
          <a:xfrm>
            <a:off x="5779008" y="1947916"/>
            <a:ext cx="37359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Per-class F1 pattern</a:t>
            </a:r>
            <a:endParaRPr lang="en-US" sz="1800"/>
          </a:p>
        </p:txBody>
      </p:sp>
      <p:pic>
        <p:nvPicPr>
          <p:cNvPr id="72" name="Image 1" descr="/mnt/data/resnet50_assets/f1_strip_visual.png">
            <a:extLst>
              <a:ext uri="{FF2B5EF4-FFF2-40B4-BE49-F238E27FC236}">
                <a16:creationId xmlns:a16="http://schemas.microsoft.com/office/drawing/2014/main" id="{9605515B-A873-DBE0-940A-C23A2299F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6" y="2342694"/>
            <a:ext cx="5025191" cy="92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59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366B8-E1BE-EA01-FD5C-86B4573A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0A1793-5A5A-9298-97A6-3ED6334B0D98}"/>
              </a:ext>
            </a:extLst>
          </p:cNvPr>
          <p:cNvSpPr/>
          <p:nvPr/>
        </p:nvSpPr>
        <p:spPr>
          <a:xfrm>
            <a:off x="660400" y="739422"/>
            <a:ext cx="10856671" cy="557784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E4FABE-EB70-98AE-A3E4-19E0E027087F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5EBA86-F99E-A423-4AD5-5B097CF284CF}"/>
              </a:ext>
            </a:extLst>
          </p:cNvPr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A24A87-89CA-7A09-DBE3-7E66A9B5E9C2}"/>
              </a:ext>
            </a:extLst>
          </p:cNvPr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cs typeface="Poppins" pitchFamily="34" charset="-120"/>
              </a:rPr>
              <a:t>09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F85371-7A52-E95C-13F1-4F4A9D7201BD}"/>
              </a:ext>
            </a:extLst>
          </p:cNvPr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02A41"/>
                </a:solidFill>
                <a:latin typeface="Poppins" pitchFamily="34" charset="0"/>
                <a:cs typeface="Poppins" pitchFamily="34" charset="-120"/>
              </a:rPr>
              <a:t>MobilenetV2</a:t>
            </a: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Training algorithm</a:t>
            </a:r>
            <a:endParaRPr lang="en-US"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40F48A7-3D73-BE12-8CBA-63ABADE91F63}"/>
              </a:ext>
            </a:extLst>
          </p:cNvPr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68FEB17-B6D0-B42D-0DF6-26417B39F6F8}"/>
              </a:ext>
            </a:extLst>
          </p:cNvPr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TRAINING</a:t>
            </a:r>
            <a:endParaRPr lang="en-US" sz="78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273126A-9FAE-1BD1-AEF5-020228AAD9ED}"/>
              </a:ext>
            </a:extLst>
          </p:cNvPr>
          <p:cNvSpPr/>
          <p:nvPr/>
        </p:nvSpPr>
        <p:spPr>
          <a:xfrm>
            <a:off x="1106424" y="1042416"/>
            <a:ext cx="10643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16988"/>
                </a:solidFill>
              </a:rPr>
              <a:t>Two-phase transfer learning adapts pretrained feature extractors to the ASL alphabet task.</a:t>
            </a:r>
            <a:endParaRPr lang="en-US" sz="18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DBB8F281-09E4-43AE-3D44-B828F95D954F}"/>
              </a:ext>
            </a:extLst>
          </p:cNvPr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1CABB5B-4984-2D1F-071A-EB6FCEEA8DFA}"/>
              </a:ext>
            </a:extLst>
          </p:cNvPr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09</a:t>
            </a:r>
            <a:endParaRPr lang="en-US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A398DD-8ED5-4C0D-3825-CC766727E9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" t="10546" r="-6985" b="22311"/>
          <a:stretch>
            <a:fillRect/>
          </a:stretch>
        </p:blipFill>
        <p:spPr>
          <a:xfrm>
            <a:off x="1108188" y="1552335"/>
            <a:ext cx="10997396" cy="46046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61ED1E-4BEC-5529-DEFC-3F0D867951BB}"/>
              </a:ext>
            </a:extLst>
          </p:cNvPr>
          <p:cNvSpPr txBox="1"/>
          <p:nvPr/>
        </p:nvSpPr>
        <p:spPr>
          <a:xfrm>
            <a:off x="3444240" y="6132576"/>
            <a:ext cx="5596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Poppins"/>
              </a:rPr>
              <a:t>Diagram was created using Generative AI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98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6821D-6B34-FAC5-24E7-309947EF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BCAF1C-BE47-894E-C55C-A066D0656849}"/>
              </a:ext>
            </a:extLst>
          </p:cNvPr>
          <p:cNvSpPr/>
          <p:nvPr/>
        </p:nvSpPr>
        <p:spPr>
          <a:xfrm>
            <a:off x="103632" y="6096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455791-D714-84B6-9450-C607A57C5BB5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68684A-7CE6-1A64-483B-F60F0F237A00}"/>
              </a:ext>
            </a:extLst>
          </p:cNvPr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430237-06BA-09AA-E5DB-35E979196850}"/>
              </a:ext>
            </a:extLst>
          </p:cNvPr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76CCC6-AF1A-248C-5FDE-090FF8F2EEB6}"/>
              </a:ext>
            </a:extLst>
          </p:cNvPr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cs typeface="Poppins" pitchFamily="34" charset="-120"/>
              </a:rPr>
              <a:t>MobilenetV2 Evaluation</a:t>
            </a:r>
            <a:endParaRPr lang="en-US"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0B7C70A-BFDA-BDC6-E36A-57784446BD19}"/>
              </a:ext>
            </a:extLst>
          </p:cNvPr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6D7628-CC04-93AD-26C2-FF718D04827D}"/>
              </a:ext>
            </a:extLst>
          </p:cNvPr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METRICS</a:t>
            </a:r>
            <a:endParaRPr lang="en-US" sz="78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B0F3B9A-382B-D7D6-249E-093CBFCA1F76}"/>
              </a:ext>
            </a:extLst>
          </p:cNvPr>
          <p:cNvSpPr/>
          <p:nvPr/>
        </p:nvSpPr>
        <p:spPr>
          <a:xfrm>
            <a:off x="3015685" y="984563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202A41"/>
                </a:solidFill>
              </a:rPr>
              <a:t>Phase 1 Curve</a:t>
            </a:r>
            <a:endParaRPr lang="en-US">
              <a:cs typeface="Poppins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0964C79-3BE5-2E34-F119-CAFDA65BB637}"/>
              </a:ext>
            </a:extLst>
          </p:cNvPr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3D77848-9D42-4DDC-7FDF-3556948FCB4F}"/>
              </a:ext>
            </a:extLst>
          </p:cNvPr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10</a:t>
            </a:r>
            <a:endParaRPr lang="en-US" sz="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2EF14-651B-A9B8-FE59-D78F36243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12" y="1321004"/>
            <a:ext cx="7217664" cy="2314039"/>
          </a:xfrm>
          <a:prstGeom prst="rect">
            <a:avLst/>
          </a:prstGeom>
        </p:spPr>
      </p:pic>
      <p:pic>
        <p:nvPicPr>
          <p:cNvPr id="25" name="Picture 24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2EF664D7-B9B0-05F1-B8FD-C4D516EF9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949" y="4125578"/>
            <a:ext cx="7266432" cy="2381095"/>
          </a:xfrm>
          <a:prstGeom prst="rect">
            <a:avLst/>
          </a:prstGeom>
        </p:spPr>
      </p:pic>
      <p:sp>
        <p:nvSpPr>
          <p:cNvPr id="26" name="Text 21">
            <a:extLst>
              <a:ext uri="{FF2B5EF4-FFF2-40B4-BE49-F238E27FC236}">
                <a16:creationId xmlns:a16="http://schemas.microsoft.com/office/drawing/2014/main" id="{F7557541-EE55-CA3F-04DB-52068C6650FF}"/>
              </a:ext>
            </a:extLst>
          </p:cNvPr>
          <p:cNvSpPr/>
          <p:nvPr/>
        </p:nvSpPr>
        <p:spPr>
          <a:xfrm>
            <a:off x="6789049" y="37973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202A41"/>
                </a:solidFill>
              </a:rPr>
              <a:t>Phase 2 Curve</a:t>
            </a:r>
            <a:endParaRPr lang="en-US">
              <a:cs typeface="Poppin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2F618E-9BB4-A60E-7B60-FD7928FED13C}"/>
              </a:ext>
            </a:extLst>
          </p:cNvPr>
          <p:cNvSpPr txBox="1"/>
          <p:nvPr/>
        </p:nvSpPr>
        <p:spPr>
          <a:xfrm>
            <a:off x="8078679" y="2064058"/>
            <a:ext cx="359545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Phase 1 accuracy: ~67% → ~93%</a:t>
            </a:r>
            <a:endParaRPr lang="en-US" sz="2400">
              <a:cs typeface="Poppi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F3BF8B-555B-3405-F967-12FE69718250}"/>
              </a:ext>
            </a:extLst>
          </p:cNvPr>
          <p:cNvSpPr txBox="1"/>
          <p:nvPr/>
        </p:nvSpPr>
        <p:spPr>
          <a:xfrm>
            <a:off x="503067" y="4350058"/>
            <a:ext cx="359545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ea typeface="+mn-lt"/>
                <a:cs typeface="+mn-lt"/>
              </a:rPr>
              <a:t>Phase 2 accuracy: ~74% → ~98.6%</a:t>
            </a:r>
          </a:p>
          <a:p>
            <a:pPr algn="ctr"/>
            <a:endParaRPr lang="en-US" sz="2400">
              <a:ea typeface="+mn-lt"/>
              <a:cs typeface="+mn-lt"/>
            </a:endParaRPr>
          </a:p>
          <a:p>
            <a:pPr algn="ctr"/>
            <a:r>
              <a:rPr lang="en-US" sz="2400">
                <a:ea typeface="+mn-lt"/>
                <a:cs typeface="+mn-lt"/>
              </a:rPr>
              <a:t>Validation accuracy reached ~99.6%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912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F990A-65E8-3BD8-0E49-B302C8EC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5E3AFD-4843-7DD0-EB74-56F6195D93AB}"/>
              </a:ext>
            </a:extLst>
          </p:cNvPr>
          <p:cNvSpPr/>
          <p:nvPr/>
        </p:nvSpPr>
        <p:spPr>
          <a:xfrm>
            <a:off x="304800" y="124178"/>
            <a:ext cx="11040229" cy="5650089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13F14B-11EC-1AF5-2B0A-F866A79D8D92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0431F6-F1FF-4531-8BE3-4B7B23947554}"/>
              </a:ext>
            </a:extLst>
          </p:cNvPr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28DDBB-C921-79E8-35C0-055485FF418C}"/>
              </a:ext>
            </a:extLst>
          </p:cNvPr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cs typeface="Poppins" pitchFamily="34" charset="-120"/>
              </a:rPr>
              <a:t>11</a:t>
            </a:r>
            <a:endParaRPr lang="en-US" sz="13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B4E698-F3B1-A2AD-9CC4-DA549E8561A3}"/>
              </a:ext>
            </a:extLst>
          </p:cNvPr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cs typeface="Poppins" pitchFamily="34" charset="-120"/>
              </a:rPr>
              <a:t>MobilenetV2 Evaluation</a:t>
            </a:r>
            <a:endParaRPr lang="en-US" sz="28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772FBE-8B64-5596-33DC-61D038DB503C}"/>
              </a:ext>
            </a:extLst>
          </p:cNvPr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06BE1E-EB61-E0E7-2ECC-5A488B54AA64}"/>
              </a:ext>
            </a:extLst>
          </p:cNvPr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METRICS</a:t>
            </a:r>
            <a:endParaRPr lang="en-US" sz="78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0BB1282-86F7-2662-4BE4-F8FFA307E4E5}"/>
              </a:ext>
            </a:extLst>
          </p:cNvPr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788499E-23A6-2655-FE4E-9459C48542FB}"/>
              </a:ext>
            </a:extLst>
          </p:cNvPr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10</a:t>
            </a:r>
            <a:endParaRPr lang="en-US" sz="900"/>
          </a:p>
        </p:txBody>
      </p:sp>
      <p:pic>
        <p:nvPicPr>
          <p:cNvPr id="9" name="Picture 8" descr="A black and white grid with white squares&#10;&#10;AI-generated content may be incorrect.">
            <a:extLst>
              <a:ext uri="{FF2B5EF4-FFF2-40B4-BE49-F238E27FC236}">
                <a16:creationId xmlns:a16="http://schemas.microsoft.com/office/drawing/2014/main" id="{6E41D6A1-BAEF-476F-A389-A76D0E17A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8" y="1715911"/>
            <a:ext cx="4282747" cy="3849512"/>
          </a:xfrm>
          <a:prstGeom prst="rect">
            <a:avLst/>
          </a:prstGeom>
        </p:spPr>
      </p:pic>
      <p:sp>
        <p:nvSpPr>
          <p:cNvPr id="26" name="Text 9">
            <a:extLst>
              <a:ext uri="{FF2B5EF4-FFF2-40B4-BE49-F238E27FC236}">
                <a16:creationId xmlns:a16="http://schemas.microsoft.com/office/drawing/2014/main" id="{2C0644FC-F135-1B0A-B9F2-76C295E36478}"/>
              </a:ext>
            </a:extLst>
          </p:cNvPr>
          <p:cNvSpPr/>
          <p:nvPr/>
        </p:nvSpPr>
        <p:spPr>
          <a:xfrm>
            <a:off x="602544" y="1338241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matrix pattern</a:t>
            </a:r>
            <a:endParaRPr lang="en-US" sz="18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F12EA8-6ED3-C7B4-48B7-DC39CA2AE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533" y="1713456"/>
            <a:ext cx="5892800" cy="1822423"/>
          </a:xfrm>
          <a:prstGeom prst="rect">
            <a:avLst/>
          </a:prstGeom>
        </p:spPr>
      </p:pic>
      <p:sp>
        <p:nvSpPr>
          <p:cNvPr id="10" name="Text 9">
            <a:extLst>
              <a:ext uri="{FF2B5EF4-FFF2-40B4-BE49-F238E27FC236}">
                <a16:creationId xmlns:a16="http://schemas.microsoft.com/office/drawing/2014/main" id="{D2484CF0-6CD3-F6E8-C050-C83CDEE9E8D1}"/>
              </a:ext>
            </a:extLst>
          </p:cNvPr>
          <p:cNvSpPr/>
          <p:nvPr/>
        </p:nvSpPr>
        <p:spPr>
          <a:xfrm>
            <a:off x="5552721" y="1338241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1F2A44"/>
                </a:solidFill>
                <a:latin typeface="Aptos Display"/>
              </a:rPr>
              <a:t>Per Class F1-score</a:t>
            </a:r>
            <a:endParaRPr lang="en-US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04B211-0AC1-4BEF-18A6-0F8B65AD58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205" r="-941" b="55025"/>
          <a:stretch>
            <a:fillRect/>
          </a:stretch>
        </p:blipFill>
        <p:spPr>
          <a:xfrm>
            <a:off x="5185833" y="4391377"/>
            <a:ext cx="6884296" cy="1503177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4487960F-2D99-DCC6-A7AB-0E8D2AF44F0B}"/>
              </a:ext>
            </a:extLst>
          </p:cNvPr>
          <p:cNvSpPr/>
          <p:nvPr/>
        </p:nvSpPr>
        <p:spPr>
          <a:xfrm>
            <a:off x="5552721" y="4024997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1F2A44"/>
                </a:solidFill>
                <a:latin typeface="Aptos Display"/>
              </a:rPr>
              <a:t>Metrics Card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6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 comparison: accuracy vs. efficiency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MODELS</a:t>
            </a:r>
            <a:endParaRPr lang="en-US" sz="78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18AEED4-6A62-D7E4-7BC8-671BBBDCFA79}"/>
              </a:ext>
            </a:extLst>
          </p:cNvPr>
          <p:cNvGrpSpPr/>
          <p:nvPr/>
        </p:nvGrpSpPr>
        <p:grpSpPr>
          <a:xfrm>
            <a:off x="1211580" y="1503275"/>
            <a:ext cx="10058400" cy="2971800"/>
            <a:chOff x="1051560" y="1691640"/>
            <a:chExt cx="10058400" cy="2971800"/>
          </a:xfrm>
        </p:grpSpPr>
        <p:sp>
          <p:nvSpPr>
            <p:cNvPr id="10" name="Shape 8"/>
            <p:cNvSpPr/>
            <p:nvPr/>
          </p:nvSpPr>
          <p:spPr>
            <a:xfrm>
              <a:off x="1051560" y="1691640"/>
              <a:ext cx="4663440" cy="29718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1051560" y="1691640"/>
              <a:ext cx="109728" cy="2971800"/>
            </a:xfrm>
            <a:prstGeom prst="rect">
              <a:avLst/>
            </a:prstGeom>
            <a:solidFill>
              <a:srgbClr val="202A41"/>
            </a:solidFill>
            <a:ln w="12700">
              <a:solidFill>
                <a:srgbClr val="202A4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1307592" y="1856232"/>
              <a:ext cx="424281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202A41"/>
                  </a:solidFill>
                </a:rPr>
                <a:t>ResNet-50</a:t>
              </a:r>
            </a:p>
          </p:txBody>
        </p:sp>
        <p:sp>
          <p:nvSpPr>
            <p:cNvPr id="14" name="Shape 12"/>
            <p:cNvSpPr/>
            <p:nvPr/>
          </p:nvSpPr>
          <p:spPr>
            <a:xfrm>
              <a:off x="6446520" y="1691640"/>
              <a:ext cx="4663440" cy="297180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5875">
              <a:solidFill>
                <a:srgbClr val="D3E1F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6446520" y="1691640"/>
              <a:ext cx="109728" cy="2971800"/>
            </a:xfrm>
            <a:prstGeom prst="rect">
              <a:avLst/>
            </a:prstGeom>
            <a:solidFill>
              <a:srgbClr val="7FA06B"/>
            </a:solidFill>
            <a:ln w="12700">
              <a:solidFill>
                <a:srgbClr val="7FA0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6702552" y="1856232"/>
              <a:ext cx="424281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202A41"/>
                  </a:solidFill>
                </a:rPr>
                <a:t>MobileNetV2</a:t>
              </a:r>
              <a:endParaRPr lang="en-US" sz="15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FDB642-0091-2AE2-3518-C6362D18B335}"/>
              </a:ext>
            </a:extLst>
          </p:cNvPr>
          <p:cNvGrpSpPr/>
          <p:nvPr/>
        </p:nvGrpSpPr>
        <p:grpSpPr>
          <a:xfrm>
            <a:off x="1903257" y="5415077"/>
            <a:ext cx="9031170" cy="839419"/>
            <a:chOff x="1557092" y="4937760"/>
            <a:chExt cx="9031170" cy="839419"/>
          </a:xfrm>
        </p:grpSpPr>
        <p:sp>
          <p:nvSpPr>
            <p:cNvPr id="18" name="Shape 16"/>
            <p:cNvSpPr/>
            <p:nvPr/>
          </p:nvSpPr>
          <p:spPr>
            <a:xfrm>
              <a:off x="1828800" y="5440680"/>
              <a:ext cx="8412480" cy="0"/>
            </a:xfrm>
            <a:prstGeom prst="line">
              <a:avLst/>
            </a:prstGeom>
            <a:noFill/>
            <a:ln w="25400">
              <a:solidFill>
                <a:srgbClr val="6E86A5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9" name="Text 17"/>
            <p:cNvSpPr/>
            <p:nvPr/>
          </p:nvSpPr>
          <p:spPr>
            <a:xfrm>
              <a:off x="1557092" y="4965195"/>
              <a:ext cx="2227218" cy="1920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516988"/>
                  </a:solidFill>
                </a:rPr>
                <a:t>Higher capacity</a:t>
              </a:r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8275320" y="4937760"/>
              <a:ext cx="2312942" cy="1920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516988"/>
                  </a:solidFill>
                </a:rPr>
                <a:t>More deployable</a:t>
              </a:r>
              <a:endParaRPr 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1965960" y="5285232"/>
              <a:ext cx="292608" cy="292608"/>
            </a:xfrm>
            <a:prstGeom prst="ellipse">
              <a:avLst/>
            </a:prstGeom>
            <a:solidFill>
              <a:srgbClr val="202A41"/>
            </a:solidFill>
            <a:ln w="12700">
              <a:solidFill>
                <a:srgbClr val="202A41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Shape 20"/>
            <p:cNvSpPr/>
            <p:nvPr/>
          </p:nvSpPr>
          <p:spPr>
            <a:xfrm>
              <a:off x="9052560" y="5285232"/>
              <a:ext cx="292608" cy="292608"/>
            </a:xfrm>
            <a:prstGeom prst="ellipse">
              <a:avLst/>
            </a:prstGeom>
            <a:solidFill>
              <a:srgbClr val="7FA06B"/>
            </a:solidFill>
            <a:ln w="12700">
              <a:solidFill>
                <a:srgbClr val="7FA06B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3" name="Text 21"/>
            <p:cNvSpPr/>
            <p:nvPr/>
          </p:nvSpPr>
          <p:spPr>
            <a:xfrm>
              <a:off x="1828800" y="5623560"/>
              <a:ext cx="1230358" cy="153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202A41"/>
                  </a:solidFill>
                </a:rPr>
                <a:t>ResNet-50</a:t>
              </a:r>
              <a:endParaRPr lang="en-US" sz="1400"/>
            </a:p>
          </p:txBody>
        </p:sp>
        <p:sp>
          <p:nvSpPr>
            <p:cNvPr id="24" name="Text 22"/>
            <p:cNvSpPr/>
            <p:nvPr/>
          </p:nvSpPr>
          <p:spPr>
            <a:xfrm>
              <a:off x="8778240" y="5623560"/>
              <a:ext cx="1565910" cy="153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7FA06B"/>
                  </a:solidFill>
                </a:rPr>
                <a:t>MobileNetV2</a:t>
              </a:r>
              <a:endParaRPr lang="en-US" sz="1400"/>
            </a:p>
          </p:txBody>
        </p:sp>
      </p:grpSp>
      <p:sp>
        <p:nvSpPr>
          <p:cNvPr id="25" name="Text 23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08</a:t>
            </a:r>
            <a:endParaRPr lang="en-US" sz="9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5422074-802A-30A3-30F5-AF89BC1F2423}"/>
              </a:ext>
            </a:extLst>
          </p:cNvPr>
          <p:cNvSpPr/>
          <p:nvPr/>
        </p:nvSpPr>
        <p:spPr>
          <a:xfrm>
            <a:off x="7027164" y="2856587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b="1">
                <a:solidFill>
                  <a:srgbClr val="202A41"/>
                </a:solidFill>
                <a:cs typeface="Poppins"/>
              </a:rPr>
              <a:t>Peak Accuracy: 99.67%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b="1" err="1">
                <a:solidFill>
                  <a:srgbClr val="202A41"/>
                </a:solidFill>
                <a:cs typeface="Poppins"/>
              </a:rPr>
              <a:t>Lightwei</a:t>
            </a:r>
            <a:r>
              <a:rPr lang="en-US" b="1">
                <a:solidFill>
                  <a:srgbClr val="202A41"/>
                </a:solidFill>
                <a:cs typeface="Poppins"/>
              </a:rPr>
              <a:t>ght &amp; </a:t>
            </a:r>
            <a:r>
              <a:rPr lang="en-US" b="1" err="1">
                <a:solidFill>
                  <a:srgbClr val="202A41"/>
                </a:solidFill>
                <a:cs typeface="Poppins"/>
              </a:rPr>
              <a:t>Efficent</a:t>
            </a:r>
            <a:r>
              <a:rPr lang="en-US" b="1">
                <a:solidFill>
                  <a:srgbClr val="202A41"/>
                </a:solidFill>
                <a:cs typeface="Poppins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b="1">
                <a:solidFill>
                  <a:srgbClr val="202A41"/>
                </a:solidFill>
                <a:cs typeface="Poppins"/>
              </a:rPr>
              <a:t>Faster Interface </a:t>
            </a:r>
            <a:endParaRPr lang="en-US" b="1" dirty="0">
              <a:solidFill>
                <a:srgbClr val="202A41"/>
              </a:solidFill>
              <a:cs typeface="Poppins"/>
            </a:endParaRPr>
          </a:p>
          <a:p>
            <a:pPr marL="285750" indent="-285750">
              <a:buFont typeface="Calibri"/>
              <a:buChar char="-"/>
            </a:pPr>
            <a:endParaRPr lang="en-US" b="1">
              <a:solidFill>
                <a:srgbClr val="202A41"/>
              </a:solidFill>
              <a:cs typeface="Poppins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EEDFE6-CEFE-9ECD-8740-B519473F80B8}"/>
              </a:ext>
            </a:extLst>
          </p:cNvPr>
          <p:cNvSpPr/>
          <p:nvPr/>
        </p:nvSpPr>
        <p:spPr>
          <a:xfrm>
            <a:off x="1498092" y="2716379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b="1">
                <a:solidFill>
                  <a:srgbClr val="202A41"/>
                </a:solidFill>
                <a:cs typeface="Poppins"/>
              </a:rPr>
              <a:t>Peak Accuracy: 99.71%</a:t>
            </a:r>
            <a:endParaRPr lang="en-US"/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b="1">
                <a:solidFill>
                  <a:srgbClr val="202A41"/>
                </a:solidFill>
                <a:cs typeface="Poppins"/>
              </a:rPr>
              <a:t>10x Larger 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b="1">
                <a:solidFill>
                  <a:srgbClr val="202A41"/>
                </a:solidFill>
                <a:cs typeface="Poppins"/>
              </a:rPr>
              <a:t>Heavier and Slower</a:t>
            </a:r>
            <a:endParaRPr lang="en-US" b="1" dirty="0">
              <a:solidFill>
                <a:srgbClr val="202A41"/>
              </a:solidFill>
              <a:cs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1589" y="183783"/>
            <a:ext cx="10876540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Streamlit demo architecture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DEMO</a:t>
            </a:r>
            <a:endParaRPr lang="en-US" sz="780"/>
          </a:p>
        </p:txBody>
      </p:sp>
      <p:sp>
        <p:nvSpPr>
          <p:cNvPr id="9" name="Text 7"/>
          <p:cNvSpPr/>
          <p:nvPr/>
        </p:nvSpPr>
        <p:spPr>
          <a:xfrm>
            <a:off x="96012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16988"/>
                </a:solidFill>
              </a:rPr>
              <a:t>MobileNetV2 is selected for demo deployment because it is lightweight and efficient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2795016" y="2709672"/>
            <a:ext cx="201168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07864" y="2709672"/>
            <a:ext cx="201168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20712" y="2709672"/>
            <a:ext cx="201168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433560" y="2709672"/>
            <a:ext cx="201168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3336" y="2069592"/>
            <a:ext cx="20116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9640" y="23073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02A41"/>
                </a:solidFill>
              </a:rPr>
              <a:t>Camera input</a:t>
            </a:r>
            <a:endParaRPr lang="en-US" sz="1450"/>
          </a:p>
        </p:txBody>
      </p:sp>
      <p:sp>
        <p:nvSpPr>
          <p:cNvPr id="16" name="Text 14"/>
          <p:cNvSpPr/>
          <p:nvPr/>
        </p:nvSpPr>
        <p:spPr>
          <a:xfrm>
            <a:off x="929640" y="26730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>
                <a:solidFill>
                  <a:srgbClr val="1F2937"/>
                </a:solidFill>
              </a:rPr>
              <a:t>User captures a hand sign</a:t>
            </a:r>
            <a:endParaRPr lang="en-US" sz="1020"/>
          </a:p>
        </p:txBody>
      </p:sp>
      <p:sp>
        <p:nvSpPr>
          <p:cNvPr id="17" name="Shape 15"/>
          <p:cNvSpPr/>
          <p:nvPr/>
        </p:nvSpPr>
        <p:spPr>
          <a:xfrm>
            <a:off x="2996184" y="2069592"/>
            <a:ext cx="20116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42488" y="23073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02A41"/>
                </a:solidFill>
              </a:rPr>
              <a:t>MediaPipe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3142488" y="26730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>
                <a:solidFill>
                  <a:srgbClr val="1F2937"/>
                </a:solidFill>
              </a:rPr>
              <a:t>Detect hand landmarks</a:t>
            </a:r>
            <a:endParaRPr lang="en-US" sz="1020"/>
          </a:p>
        </p:txBody>
      </p:sp>
      <p:sp>
        <p:nvSpPr>
          <p:cNvPr id="20" name="Shape 18"/>
          <p:cNvSpPr/>
          <p:nvPr/>
        </p:nvSpPr>
        <p:spPr>
          <a:xfrm>
            <a:off x="5209032" y="2069592"/>
            <a:ext cx="20116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55336" y="23073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02A41"/>
                </a:solidFill>
              </a:rPr>
              <a:t>Auto-crop</a:t>
            </a:r>
            <a:endParaRPr lang="en-US" sz="1450"/>
          </a:p>
        </p:txBody>
      </p:sp>
      <p:sp>
        <p:nvSpPr>
          <p:cNvPr id="22" name="Text 20"/>
          <p:cNvSpPr/>
          <p:nvPr/>
        </p:nvSpPr>
        <p:spPr>
          <a:xfrm>
            <a:off x="5355336" y="26730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>
                <a:solidFill>
                  <a:srgbClr val="1F2937"/>
                </a:solidFill>
              </a:rPr>
              <a:t>Crop hand bounding box</a:t>
            </a:r>
            <a:endParaRPr lang="en-US" sz="1020"/>
          </a:p>
        </p:txBody>
      </p:sp>
      <p:sp>
        <p:nvSpPr>
          <p:cNvPr id="23" name="Shape 21"/>
          <p:cNvSpPr/>
          <p:nvPr/>
        </p:nvSpPr>
        <p:spPr>
          <a:xfrm>
            <a:off x="7421880" y="2069592"/>
            <a:ext cx="2011680" cy="1280160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1524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68184" y="23073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02A41"/>
                </a:solidFill>
              </a:rPr>
              <a:t>MobileNetV2</a:t>
            </a:r>
            <a:endParaRPr lang="en-US" sz="1450"/>
          </a:p>
        </p:txBody>
      </p:sp>
      <p:sp>
        <p:nvSpPr>
          <p:cNvPr id="25" name="Text 23"/>
          <p:cNvSpPr/>
          <p:nvPr/>
        </p:nvSpPr>
        <p:spPr>
          <a:xfrm>
            <a:off x="7568184" y="26730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>
                <a:solidFill>
                  <a:srgbClr val="1F2937"/>
                </a:solidFill>
              </a:rPr>
              <a:t>Run classifier</a:t>
            </a:r>
            <a:endParaRPr lang="en-US" sz="1020"/>
          </a:p>
        </p:txBody>
      </p:sp>
      <p:sp>
        <p:nvSpPr>
          <p:cNvPr id="26" name="Shape 24"/>
          <p:cNvSpPr/>
          <p:nvPr/>
        </p:nvSpPr>
        <p:spPr>
          <a:xfrm>
            <a:off x="9634728" y="2069592"/>
            <a:ext cx="201168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24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81032" y="230733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02A41"/>
                </a:solidFill>
              </a:rPr>
              <a:t>Output</a:t>
            </a:r>
            <a:endParaRPr lang="en-US" sz="1450"/>
          </a:p>
        </p:txBody>
      </p:sp>
      <p:sp>
        <p:nvSpPr>
          <p:cNvPr id="28" name="Text 26"/>
          <p:cNvSpPr/>
          <p:nvPr/>
        </p:nvSpPr>
        <p:spPr>
          <a:xfrm>
            <a:off x="9781032" y="26730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>
                <a:solidFill>
                  <a:srgbClr val="1F2937"/>
                </a:solidFill>
              </a:rPr>
              <a:t>Predicted letter + Top-5</a:t>
            </a:r>
            <a:endParaRPr lang="en-US" sz="1020"/>
          </a:p>
        </p:txBody>
      </p:sp>
      <p:sp>
        <p:nvSpPr>
          <p:cNvPr id="29" name="Shape 27"/>
          <p:cNvSpPr/>
          <p:nvPr/>
        </p:nvSpPr>
        <p:spPr>
          <a:xfrm>
            <a:off x="3896360" y="4149231"/>
            <a:ext cx="2730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74626" y="4149231"/>
            <a:ext cx="98440" cy="1325880"/>
          </a:xfrm>
          <a:prstGeom prst="rect">
            <a:avLst/>
          </a:prstGeom>
          <a:solidFill>
            <a:srgbClr val="7FA06B"/>
          </a:solidFill>
          <a:ln w="12700">
            <a:solidFill>
              <a:srgbClr val="7FA06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07236" y="4313823"/>
            <a:ext cx="2354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02A41"/>
                </a:solidFill>
              </a:rPr>
              <a:t>Why crop?</a:t>
            </a:r>
            <a:endParaRPr lang="en-US" sz="1500"/>
          </a:p>
        </p:txBody>
      </p:sp>
      <p:sp>
        <p:nvSpPr>
          <p:cNvPr id="32" name="Text 30"/>
          <p:cNvSpPr/>
          <p:nvPr/>
        </p:nvSpPr>
        <p:spPr>
          <a:xfrm>
            <a:off x="4107236" y="4679583"/>
            <a:ext cx="235475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F2937"/>
                </a:solidFill>
              </a:rPr>
              <a:t>Full webcam frames contain background, lighting variation, and hand-size mismatch. Cropping reduces domain shift.</a:t>
            </a: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7416800" y="4149231"/>
            <a:ext cx="2730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95066" y="4149231"/>
            <a:ext cx="98440" cy="1325880"/>
          </a:xfrm>
          <a:prstGeom prst="rect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27676" y="4313823"/>
            <a:ext cx="2354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02A41"/>
                </a:solidFill>
              </a:rPr>
              <a:t>User-facing output</a:t>
            </a:r>
            <a:endParaRPr lang="en-US" sz="1500"/>
          </a:p>
        </p:txBody>
      </p:sp>
      <p:sp>
        <p:nvSpPr>
          <p:cNvPr id="36" name="Text 34"/>
          <p:cNvSpPr/>
          <p:nvPr/>
        </p:nvSpPr>
        <p:spPr>
          <a:xfrm>
            <a:off x="7627676" y="4679583"/>
            <a:ext cx="235475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F2937"/>
                </a:solidFill>
              </a:rPr>
              <a:t>The app displays the predicted class, confidence, cropped hand image, and Top-5 probabilities.</a:t>
            </a:r>
            <a:endParaRPr lang="en-US" sz="125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Conclusions and next steps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WRAP-UP</a:t>
            </a:r>
            <a:endParaRPr lang="en-US" sz="78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12</a:t>
            </a:r>
            <a:endParaRPr lang="en-US" sz="900"/>
          </a:p>
        </p:txBody>
      </p:sp>
      <p:sp>
        <p:nvSpPr>
          <p:cNvPr id="26" name="Shape 20"/>
          <p:cNvSpPr/>
          <p:nvPr/>
        </p:nvSpPr>
        <p:spPr>
          <a:xfrm>
            <a:off x="1066376" y="1036263"/>
            <a:ext cx="10201769" cy="3592125"/>
          </a:xfrm>
          <a:prstGeom prst="roundRect">
            <a:avLst>
              <a:gd name="adj" fmla="val 10000"/>
            </a:avLst>
          </a:prstGeom>
          <a:solidFill>
            <a:srgbClr val="D3E1F1"/>
          </a:solidFill>
          <a:ln w="15240">
            <a:solidFill>
              <a:srgbClr val="90ABCE"/>
            </a:solidFill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Both models achieved </a:t>
            </a:r>
            <a:r>
              <a:rPr lang="en-US" b="1">
                <a:ea typeface="+mn-lt"/>
                <a:cs typeface="+mn-lt"/>
              </a:rPr>
              <a:t>near-perfect performance (~99.6% accuracy)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cs typeface="Poppins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ResNet50 slightly higher accuracy</a:t>
            </a:r>
            <a:r>
              <a:rPr lang="en-US">
                <a:ea typeface="+mn-lt"/>
                <a:cs typeface="+mn-lt"/>
              </a:rPr>
              <a:t> (+0.04%) but with </a:t>
            </a:r>
            <a:r>
              <a:rPr lang="en-US" b="1">
                <a:ea typeface="+mn-lt"/>
                <a:cs typeface="+mn-lt"/>
              </a:rPr>
              <a:t>~10× more parameters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>
              <a:cs typeface="Poppins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Lower performance on </a:t>
            </a:r>
            <a:r>
              <a:rPr lang="en-US" b="1">
                <a:ea typeface="+mn-lt"/>
                <a:cs typeface="+mn-lt"/>
              </a:rPr>
              <a:t>M, N, T, Y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due to visually similar hand shapes &amp; subtle finger differences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>
              <a:cs typeface="Poppins"/>
            </a:endParaRPr>
          </a:p>
          <a:p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Data augmentation + dataset merging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→ improved robustness and real-world performance</a:t>
            </a:r>
            <a:endParaRPr lang="en-US">
              <a:cs typeface="Poppins"/>
            </a:endParaRPr>
          </a:p>
          <a:p>
            <a:endParaRPr lang="en-US" dirty="0">
              <a:cs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72285-ECB3-B359-E494-E0C7AF2CAF16}"/>
              </a:ext>
            </a:extLst>
          </p:cNvPr>
          <p:cNvSpPr txBox="1"/>
          <p:nvPr/>
        </p:nvSpPr>
        <p:spPr>
          <a:xfrm>
            <a:off x="1236134" y="4828823"/>
            <a:ext cx="942622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/>
              <a:t>Limitations &amp; Future Work</a:t>
            </a:r>
            <a:endParaRPr lang="en-US">
              <a:cs typeface="Poppins"/>
            </a:endParaRPr>
          </a:p>
          <a:p>
            <a:pPr algn="ctr">
              <a:lnSpc>
                <a:spcPct val="150000"/>
              </a:lnSpc>
              <a:buFont typeface=""/>
              <a:buChar char="•"/>
            </a:pPr>
            <a:r>
              <a:rPr lang="en-US"/>
              <a:t>Static images only (no motion/sequence) </a:t>
            </a:r>
            <a:endParaRPr lang="en-US">
              <a:cs typeface="Poppins"/>
            </a:endParaRPr>
          </a:p>
          <a:p>
            <a:pPr algn="ctr">
              <a:lnSpc>
                <a:spcPct val="150000"/>
              </a:lnSpc>
              <a:buFont typeface=""/>
              <a:buChar char="•"/>
            </a:pPr>
            <a:r>
              <a:rPr lang="en-US"/>
              <a:t>Struggles with similar gestures </a:t>
            </a:r>
            <a:endParaRPr lang="en-US">
              <a:cs typeface="Poppins"/>
            </a:endParaRPr>
          </a:p>
          <a:p>
            <a:pPr algn="ctr">
              <a:lnSpc>
                <a:spcPct val="150000"/>
              </a:lnSpc>
              <a:buFont typeface=""/>
              <a:buChar char="•"/>
            </a:pPr>
            <a:r>
              <a:rPr lang="en-US"/>
              <a:t>Future: </a:t>
            </a:r>
            <a:r>
              <a:rPr lang="en-US" b="1"/>
              <a:t>video-based models, larger datasets, Vision Transformers</a:t>
            </a:r>
            <a:endParaRPr lang="en-US" b="1">
              <a:cs typeface="Poppins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85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01168" y="0"/>
            <a:ext cx="45720" cy="6858000"/>
          </a:xfrm>
          <a:prstGeom prst="rect">
            <a:avLst/>
          </a:prstGeom>
          <a:solidFill>
            <a:srgbClr val="90ABCE"/>
          </a:solidFill>
          <a:ln w="12700">
            <a:solidFill>
              <a:srgbClr val="90A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E86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34440" y="23774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02A4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resources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960120" y="822960"/>
            <a:ext cx="10561320" cy="0"/>
          </a:xfrm>
          <a:prstGeom prst="line">
            <a:avLst/>
          </a:prstGeom>
          <a:noFill/>
          <a:ln w="19050">
            <a:solidFill>
              <a:srgbClr val="90AB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0" y="502920"/>
            <a:ext cx="1143000" cy="256032"/>
          </a:xfrm>
          <a:prstGeom prst="rect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>
                <a:solidFill>
                  <a:srgbClr val="FFFFFF"/>
                </a:solidFill>
              </a:rPr>
              <a:t>REFERENCES</a:t>
            </a:r>
            <a:endParaRPr lang="en-US" sz="78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0287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F2937"/>
                </a:solidFill>
                <a:ea typeface="Poppins" pitchFamily="34" charset="-122"/>
                <a:cs typeface="Poppins" pitchFamily="34" charset="-120"/>
              </a:rPr>
              <a:t>Akash (2018), Kaggle ASL Alphabet Dataset; Benabbas (2022), Mendeley ASL Dataset.</a:t>
            </a:r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F2937"/>
                </a:solidFill>
                <a:ea typeface="Poppins" pitchFamily="34" charset="-122"/>
                <a:cs typeface="Poppins" pitchFamily="34" charset="-120"/>
              </a:rPr>
              <a:t>He et al. (2016), Deep Residual Learning for Image Recognition — ResNet-50 backbone.</a:t>
            </a:r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F2937"/>
                </a:solidFill>
                <a:ea typeface="Poppins" pitchFamily="34" charset="-122"/>
                <a:cs typeface="Poppins" pitchFamily="34" charset="-120"/>
              </a:rPr>
              <a:t>Sandler et al. (2018), MobileNetV2: Inverted residuals and linear bottlenecks.</a:t>
            </a:r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F2937"/>
                </a:solidFill>
                <a:ea typeface="Poppins" pitchFamily="34" charset="-122"/>
                <a:cs typeface="Poppins" pitchFamily="34" charset="-120"/>
              </a:rPr>
              <a:t>Lugaresi et al. (2019), MediaPipe framework for hand landmark detection.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/>
              <a:t>Rosen, R. S., Henner, J., &amp; Villwock, A. (2022). How many people use sign language? A national health survey-based estimate. Journal of Deaf Studies and Deaf Education, 28(1), 1–11. https://doi.org/10.1093/jdsde/enac032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F2937"/>
                </a:solidFill>
                <a:ea typeface="Poppins" pitchFamily="34" charset="-122"/>
                <a:cs typeface="Poppins" pitchFamily="34" charset="-120"/>
              </a:rPr>
              <a:t>TensorFlow / Keras, OpenCV, scikit-learn, Split-Folders, and Streamlit used in implementation.</a:t>
            </a:r>
          </a:p>
        </p:txBody>
      </p:sp>
      <p:sp>
        <p:nvSpPr>
          <p:cNvPr id="10" name="Shape 8"/>
          <p:cNvSpPr/>
          <p:nvPr/>
        </p:nvSpPr>
        <p:spPr>
          <a:xfrm>
            <a:off x="1165860" y="4891387"/>
            <a:ext cx="10058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95400" y="5165707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202A41"/>
                </a:solidFill>
              </a:rPr>
              <a:t>Project repository: </a:t>
            </a:r>
            <a:r>
              <a:rPr lang="en-US" sz="1400" b="1">
                <a:solidFill>
                  <a:srgbClr val="202A41"/>
                </a:solidFill>
                <a:hlinkClick r:id="rId3"/>
              </a:rPr>
              <a:t>https://github.com/ashleygya03/FinalProject-Group6</a:t>
            </a:r>
            <a:endParaRPr lang="en-US" sz="1400" b="1">
              <a:solidFill>
                <a:srgbClr val="202A41"/>
              </a:solidFill>
            </a:endParaRPr>
          </a:p>
          <a:p>
            <a:pPr algn="ctr"/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16988"/>
                </a:solidFill>
              </a:rPr>
              <a:t>DATS 6303 | Group 6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11265408" y="645566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516988"/>
                </a:solidFill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</a:rPr>
              <a:t>THANKS!</a:t>
            </a:r>
            <a:endParaRPr lang="en-US" sz="520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D3E1F1"/>
                </a:solidFill>
              </a:rPr>
              <a:t>Questions?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6903720" y="914400"/>
            <a:ext cx="4206240" cy="4526280"/>
          </a:xfrm>
          <a:prstGeom prst="roundRect">
            <a:avLst>
              <a:gd name="adj" fmla="val 3913"/>
            </a:avLst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docx_media/image1.jpeg"/>
          <p:cNvPicPr>
            <a:picLocks noChangeAspect="1"/>
          </p:cNvPicPr>
          <p:nvPr/>
        </p:nvPicPr>
        <p:blipFill>
          <a:blip r:embed="rId3"/>
          <a:srcRect l="3933" r="3933"/>
          <a:stretch/>
        </p:blipFill>
        <p:spPr>
          <a:xfrm>
            <a:off x="7132320" y="1143000"/>
            <a:ext cx="3749040" cy="4069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144D2BCEBBCF48833C023E32E31621" ma:contentTypeVersion="6" ma:contentTypeDescription="Create a new document." ma:contentTypeScope="" ma:versionID="d529674a397392c865e6dc5e202abfbb">
  <xsd:schema xmlns:xsd="http://www.w3.org/2001/XMLSchema" xmlns:xs="http://www.w3.org/2001/XMLSchema" xmlns:p="http://schemas.microsoft.com/office/2006/metadata/properties" xmlns:ns3="ac63ef4d-1e19-48c7-bd01-77d9c4f08309" targetNamespace="http://schemas.microsoft.com/office/2006/metadata/properties" ma:root="true" ma:fieldsID="8cfe786b97c2776f49390f2d9aa66290" ns3:_="">
    <xsd:import namespace="ac63ef4d-1e19-48c7-bd01-77d9c4f0830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3ef4d-1e19-48c7-bd01-77d9c4f0830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63ef4d-1e19-48c7-bd01-77d9c4f08309" xsi:nil="true"/>
  </documentManagement>
</p:properties>
</file>

<file path=customXml/itemProps1.xml><?xml version="1.0" encoding="utf-8"?>
<ds:datastoreItem xmlns:ds="http://schemas.openxmlformats.org/officeDocument/2006/customXml" ds:itemID="{65D9A460-C9CA-4394-97E2-3FB5AEDA5C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4559E5-E628-4DE4-A833-6AF9E8969B05}">
  <ds:schemaRefs>
    <ds:schemaRef ds:uri="ac63ef4d-1e19-48c7-bd01-77d9c4f083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282E5B-24C7-4B75-B63F-76DC4AC83F2F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ac63ef4d-1e19-48c7-bd01-77d9c4f08309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1148</Words>
  <Application>Microsoft Macintosh PowerPoint</Application>
  <PresentationFormat>Widescreen</PresentationFormat>
  <Paragraphs>247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Poppins</vt:lpstr>
      <vt:lpstr>Aptos Display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GWU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Alphabet Classification via Transfer Learning</dc:title>
  <dc:subject>DATS 6303 Final Project</dc:subject>
  <dc:creator>Fyrooz Khan, Ashley Gyapomah</dc:creator>
  <cp:lastModifiedBy>Gyapomah, Ashley Janet</cp:lastModifiedBy>
  <cp:revision>31</cp:revision>
  <dcterms:created xsi:type="dcterms:W3CDTF">2026-04-26T22:19:17Z</dcterms:created>
  <dcterms:modified xsi:type="dcterms:W3CDTF">2026-04-29T14:03:18Z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0x01010019144D2BCEBBCF48833C023E32E31621</vt:lpwstr>
  </property>
</Properties>
</file>